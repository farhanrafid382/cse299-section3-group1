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6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3247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87569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EE5BA"/>
          </a:solidFill>
          <a:ln/>
        </p:spPr>
      </p:sp>
      <p:sp>
        <p:nvSpPr>
          <p:cNvPr id="3" name="Text 1"/>
          <p:cNvSpPr/>
          <p:nvPr/>
        </p:nvSpPr>
        <p:spPr>
          <a:xfrm>
            <a:off x="365760" y="320040"/>
            <a:ext cx="8412480" cy="274320"/>
          </a:xfrm>
          <a:prstGeom prst="rect">
            <a:avLst/>
          </a:prstGeom>
          <a:noFill/>
          <a:ln/>
        </p:spPr>
        <p:txBody>
          <a:bodyPr wrap="square" lIns="0" tIns="0" rIns="0" bIns="0" rtlCol="0" anchor="ctr"/>
          <a:lstStyle/>
          <a:p>
            <a:pPr marL="0" indent="0" algn="ctr">
              <a:buNone/>
            </a:pPr>
            <a:r>
              <a:rPr sz="1100" b="1">
                <a:solidFill>
                  <a:srgbClr val="2EE5BA"/>
                </a:solidFill>
                <a:latin typeface="Calibri"/>
              </a:rPr>
              <a:t>CSE 299  •  SECTION 3  •  GROUP 1  •  FACULTY: DR. M. SHIFAT-E-RABBI (MSRB)</a:t>
            </a:r>
            <a:endParaRPr lang="en-US" sz="1100" dirty="0"/>
          </a:p>
        </p:txBody>
      </p:sp>
      <p:sp>
        <p:nvSpPr>
          <p:cNvPr id="4" name="Text 2"/>
          <p:cNvSpPr/>
          <p:nvPr/>
        </p:nvSpPr>
        <p:spPr>
          <a:xfrm>
            <a:off x="365760" y="777240"/>
            <a:ext cx="8412480" cy="1188720"/>
          </a:xfrm>
          <a:prstGeom prst="rect">
            <a:avLst/>
          </a:prstGeom>
          <a:noFill/>
          <a:ln/>
        </p:spPr>
        <p:txBody>
          <a:bodyPr wrap="square" lIns="0" tIns="0" rIns="0" bIns="0" rtlCol="0" anchor="ctr"/>
          <a:lstStyle/>
          <a:p>
            <a:pPr marL="0" indent="0" algn="ctr">
              <a:buNone/>
            </a:pPr>
            <a:r>
              <a:rPr sz="3000" b="1">
                <a:solidFill>
                  <a:srgbClr val="FFFFFF"/>
                </a:solidFill>
                <a:latin typeface="Calibri"/>
              </a:rPr>
              <a:t>AI-Powered E-Commerce Platform</a:t>
            </a:r>
            <a:endParaRPr lang="en-US" sz="3000" dirty="0"/>
          </a:p>
          <a:p>
            <a:r>
              <a:rPr sz="3000" b="1">
                <a:solidFill>
                  <a:srgbClr val="FFFFFF"/>
                </a:solidFill>
                <a:latin typeface="Calibri"/>
              </a:rPr>
              <a:t>with Intelligent Business Insights</a:t>
            </a:r>
          </a:p>
        </p:txBody>
      </p:sp>
      <p:sp>
        <p:nvSpPr>
          <p:cNvPr id="5" name="Shape 3"/>
          <p:cNvSpPr/>
          <p:nvPr/>
        </p:nvSpPr>
        <p:spPr>
          <a:xfrm>
            <a:off x="3200400" y="2057400"/>
            <a:ext cx="2743200" cy="0"/>
          </a:xfrm>
          <a:prstGeom prst="line">
            <a:avLst/>
          </a:prstGeom>
          <a:noFill/>
          <a:ln w="25400">
            <a:solidFill>
              <a:srgbClr val="2EE5BA"/>
            </a:solidFill>
            <a:prstDash val="solid"/>
          </a:ln>
        </p:spPr>
      </p:sp>
      <p:sp>
        <p:nvSpPr>
          <p:cNvPr id="6" name="Text 4"/>
          <p:cNvSpPr/>
          <p:nvPr/>
        </p:nvSpPr>
        <p:spPr>
          <a:xfrm>
            <a:off x="365760" y="2194560"/>
            <a:ext cx="8412480" cy="320040"/>
          </a:xfrm>
          <a:prstGeom prst="rect">
            <a:avLst/>
          </a:prstGeom>
          <a:noFill/>
          <a:ln/>
        </p:spPr>
        <p:txBody>
          <a:bodyPr wrap="square" lIns="0" tIns="0" rIns="0" bIns="0" rtlCol="0" anchor="ctr"/>
          <a:lstStyle/>
          <a:p>
            <a:pPr marL="0" indent="0" algn="ctr">
              <a:buNone/>
            </a:pPr>
            <a:r>
              <a:rPr sz="1600">
                <a:solidFill>
                  <a:srgbClr val="94A3B8"/>
                </a:solidFill>
                <a:latin typeface="Calibri"/>
              </a:rPr>
              <a:t>Project Update 7 Presentation</a:t>
            </a:r>
            <a:endParaRPr lang="en-US" sz="1600" dirty="0"/>
          </a:p>
        </p:txBody>
      </p:sp>
      <p:sp>
        <p:nvSpPr>
          <p:cNvPr id="7" name="Shape 5"/>
          <p:cNvSpPr/>
          <p:nvPr/>
        </p:nvSpPr>
        <p:spPr>
          <a:xfrm>
            <a:off x="1371600" y="2697480"/>
            <a:ext cx="6400800" cy="1691640"/>
          </a:xfrm>
          <a:prstGeom prst="roundRect">
            <a:avLst>
              <a:gd name="adj" fmla="val 5405"/>
            </a:avLst>
          </a:prstGeom>
          <a:solidFill>
            <a:srgbClr val="14243E"/>
          </a:solidFill>
          <a:ln/>
        </p:spPr>
      </p:sp>
      <p:sp>
        <p:nvSpPr>
          <p:cNvPr id="8" name="Text 6"/>
          <p:cNvSpPr/>
          <p:nvPr/>
        </p:nvSpPr>
        <p:spPr>
          <a:xfrm>
            <a:off x="1371600" y="2788920"/>
            <a:ext cx="6400800" cy="274320"/>
          </a:xfrm>
          <a:prstGeom prst="rect">
            <a:avLst/>
          </a:prstGeom>
          <a:noFill/>
          <a:ln/>
        </p:spPr>
        <p:txBody>
          <a:bodyPr wrap="square" lIns="0" tIns="0" rIns="0" bIns="0" rtlCol="0" anchor="ctr"/>
          <a:lstStyle/>
          <a:p>
            <a:pPr marL="0" indent="0" algn="ctr">
              <a:buNone/>
            </a:pPr>
            <a:r>
              <a:rPr sz="1200" b="1">
                <a:solidFill>
                  <a:srgbClr val="2EE5BA"/>
                </a:solidFill>
                <a:latin typeface="Calibri"/>
              </a:rPr>
              <a:t>UPDATE FOCUS</a:t>
            </a:r>
            <a:endParaRPr lang="en-US" sz="1200" dirty="0"/>
          </a:p>
        </p:txBody>
      </p:sp>
      <p:sp>
        <p:nvSpPr>
          <p:cNvPr id="9" name="Text 7"/>
          <p:cNvSpPr/>
          <p:nvPr/>
        </p:nvSpPr>
        <p:spPr>
          <a:xfrm>
            <a:off x="1554480" y="3063240"/>
            <a:ext cx="6035040" cy="1234440"/>
          </a:xfrm>
          <a:prstGeom prst="rect">
            <a:avLst/>
          </a:prstGeom>
          <a:noFill/>
          <a:ln/>
        </p:spPr>
        <p:txBody>
          <a:bodyPr wrap="square" lIns="0" tIns="0" rIns="0" bIns="0" rtlCol="0" anchor="ctr"/>
          <a:lstStyle/>
          <a:p>
            <a:pPr marL="0" indent="0" algn="ctr">
              <a:buNone/>
            </a:pPr>
            <a:r>
              <a:rPr sz="1400">
                <a:solidFill>
                  <a:srgbClr val="FFFFFF"/>
                </a:solidFill>
                <a:latin typeface="Calibri"/>
              </a:rPr>
              <a:t>Latest Frontend + Backend Review</a:t>
            </a:r>
            <a:endParaRPr lang="en-US" sz="1400" dirty="0"/>
          </a:p>
          <a:p>
            <a:r>
              <a:rPr sz="1400">
                <a:solidFill>
                  <a:srgbClr val="FFFFFF"/>
                </a:solidFill>
                <a:latin typeface="Calibri"/>
              </a:rPr>
              <a:t>Customer AI Chatbot Integration</a:t>
            </a:r>
          </a:p>
          <a:p>
            <a:r>
              <a:rPr sz="1400">
                <a:solidFill>
                  <a:srgbClr val="FFFFFF"/>
                </a:solidFill>
                <a:latin typeface="Calibri"/>
              </a:rPr>
              <a:t>Admin AI Chatbot Integration</a:t>
            </a:r>
          </a:p>
          <a:p>
            <a:r>
              <a:rPr sz="1400">
                <a:solidFill>
                  <a:srgbClr val="FFFFFF"/>
                </a:solidFill>
                <a:latin typeface="Calibri"/>
              </a:rPr>
              <a:t>Branch Update &amp; Demonstration Readiness</a:t>
            </a:r>
          </a:p>
        </p:txBody>
      </p:sp>
      <p:sp>
        <p:nvSpPr>
          <p:cNvPr id="10" name="Text 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11" name="Text 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PROJECT UPDATE 7  •  CSE 299</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Update Objective &amp; Scope</a:t>
            </a:r>
            <a:endParaRPr lang="en-US" sz="2600" dirty="0"/>
          </a:p>
        </p:txBody>
      </p:sp>
      <p:sp>
        <p:nvSpPr>
          <p:cNvPr id="4" name="Shape 2"/>
          <p:cNvSpPr/>
          <p:nvPr/>
        </p:nvSpPr>
        <p:spPr>
          <a:xfrm>
            <a:off x="365760" y="132588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5" name="Shape 3"/>
          <p:cNvSpPr/>
          <p:nvPr/>
        </p:nvSpPr>
        <p:spPr>
          <a:xfrm>
            <a:off x="365760" y="1325880"/>
            <a:ext cx="54864" cy="155448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48640" y="1463040"/>
            <a:ext cx="365760" cy="365760"/>
          </a:xfrm>
          <a:prstGeom prst="rect">
            <a:avLst/>
          </a:prstGeom>
        </p:spPr>
      </p:pic>
      <p:sp>
        <p:nvSpPr>
          <p:cNvPr id="7" name="Text 4"/>
          <p:cNvSpPr/>
          <p:nvPr/>
        </p:nvSpPr>
        <p:spPr>
          <a:xfrm>
            <a:off x="1005840" y="143560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Frontend Review First</a:t>
            </a:r>
            <a:endParaRPr lang="en-US" sz="1300" dirty="0"/>
          </a:p>
        </p:txBody>
      </p:sp>
      <p:sp>
        <p:nvSpPr>
          <p:cNvPr id="8" name="Text 5"/>
          <p:cNvSpPr/>
          <p:nvPr/>
        </p:nvSpPr>
        <p:spPr>
          <a:xfrm>
            <a:off x="548640" y="182880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Shakib's latest React frontend was checked against the previous frontend archive to verify API usage, authentication flow and page updates.</a:t>
            </a:r>
            <a:endParaRPr lang="en-US" sz="1100" dirty="0"/>
          </a:p>
        </p:txBody>
      </p:sp>
      <p:sp>
        <p:nvSpPr>
          <p:cNvPr id="9" name="Shape 6"/>
          <p:cNvSpPr/>
          <p:nvPr/>
        </p:nvSpPr>
        <p:spPr>
          <a:xfrm>
            <a:off x="4754880" y="132588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10" name="Shape 7"/>
          <p:cNvSpPr/>
          <p:nvPr/>
        </p:nvSpPr>
        <p:spPr>
          <a:xfrm>
            <a:off x="4754880" y="1325880"/>
            <a:ext cx="54864" cy="1554480"/>
          </a:xfrm>
          <a:prstGeom prst="rect">
            <a:avLst/>
          </a:prstGeom>
          <a:solidFill>
            <a:srgbClr val="F5B041"/>
          </a:solidFill>
          <a:ln/>
        </p:spPr>
      </p:sp>
      <p:pic>
        <p:nvPicPr>
          <p:cNvPr id="11" name="Image 1" descr="preencoded.png"/>
          <p:cNvPicPr>
            <a:picLocks noChangeAspect="1"/>
          </p:cNvPicPr>
          <p:nvPr/>
        </p:nvPicPr>
        <p:blipFill>
          <a:blip r:embed="rId4"/>
          <a:stretch>
            <a:fillRect/>
          </a:stretch>
        </p:blipFill>
        <p:spPr>
          <a:xfrm>
            <a:off x="4937760" y="1463040"/>
            <a:ext cx="365760" cy="365760"/>
          </a:xfrm>
          <a:prstGeom prst="rect">
            <a:avLst/>
          </a:prstGeom>
        </p:spPr>
      </p:pic>
      <p:sp>
        <p:nvSpPr>
          <p:cNvPr id="12" name="Text 8"/>
          <p:cNvSpPr/>
          <p:nvPr/>
        </p:nvSpPr>
        <p:spPr>
          <a:xfrm>
            <a:off x="5394960" y="143560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Backend Review Second</a:t>
            </a:r>
            <a:endParaRPr lang="en-US" sz="1300" dirty="0"/>
          </a:p>
        </p:txBody>
      </p:sp>
      <p:sp>
        <p:nvSpPr>
          <p:cNvPr id="13" name="Text 9"/>
          <p:cNvSpPr/>
          <p:nvPr/>
        </p:nvSpPr>
        <p:spPr>
          <a:xfrm>
            <a:off x="4937760" y="182880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Rahat's latest Django backend was compared with the previous backend to identify added files, changed settings and missing chatbot endpoints.</a:t>
            </a:r>
            <a:endParaRPr lang="en-US" sz="1100" dirty="0"/>
          </a:p>
        </p:txBody>
      </p:sp>
      <p:sp>
        <p:nvSpPr>
          <p:cNvPr id="14" name="Shape 10"/>
          <p:cNvSpPr/>
          <p:nvPr/>
        </p:nvSpPr>
        <p:spPr>
          <a:xfrm>
            <a:off x="365760" y="301752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15" name="Shape 11"/>
          <p:cNvSpPr/>
          <p:nvPr/>
        </p:nvSpPr>
        <p:spPr>
          <a:xfrm>
            <a:off x="365760" y="3017520"/>
            <a:ext cx="54864" cy="1554480"/>
          </a:xfrm>
          <a:prstGeom prst="rect">
            <a:avLst/>
          </a:prstGeom>
          <a:solidFill>
            <a:srgbClr val="2EE5BA"/>
          </a:solidFill>
          <a:ln/>
        </p:spPr>
      </p:sp>
      <p:pic>
        <p:nvPicPr>
          <p:cNvPr id="16" name="Image 2" descr="preencoded.png"/>
          <p:cNvPicPr>
            <a:picLocks noChangeAspect="1"/>
          </p:cNvPicPr>
          <p:nvPr/>
        </p:nvPicPr>
        <p:blipFill>
          <a:blip r:embed="rId5"/>
          <a:stretch>
            <a:fillRect/>
          </a:stretch>
        </p:blipFill>
        <p:spPr>
          <a:xfrm>
            <a:off x="548640" y="3154680"/>
            <a:ext cx="365760" cy="365760"/>
          </a:xfrm>
          <a:prstGeom prst="rect">
            <a:avLst/>
          </a:prstGeom>
        </p:spPr>
      </p:pic>
      <p:sp>
        <p:nvSpPr>
          <p:cNvPr id="17" name="Text 12"/>
          <p:cNvSpPr/>
          <p:nvPr/>
        </p:nvSpPr>
        <p:spPr>
          <a:xfrm>
            <a:off x="100584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Dual Chatbot Integration</a:t>
            </a:r>
            <a:endParaRPr lang="en-US" sz="1300" dirty="0"/>
          </a:p>
        </p:txBody>
      </p:sp>
      <p:sp>
        <p:nvSpPr>
          <p:cNvPr id="18" name="Text 13"/>
          <p:cNvSpPr/>
          <p:nvPr/>
        </p:nvSpPr>
        <p:spPr>
          <a:xfrm>
            <a:off x="548640" y="352044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A separate DRF chatbot app was added for customer and admin AI assistants using the same local Ollama model.</a:t>
            </a:r>
            <a:endParaRPr lang="en-US" sz="1100" dirty="0"/>
          </a:p>
        </p:txBody>
      </p:sp>
      <p:sp>
        <p:nvSpPr>
          <p:cNvPr id="19" name="Shape 14"/>
          <p:cNvSpPr/>
          <p:nvPr/>
        </p:nvSpPr>
        <p:spPr>
          <a:xfrm>
            <a:off x="4754880" y="3017520"/>
            <a:ext cx="4206240" cy="1554480"/>
          </a:xfrm>
          <a:prstGeom prst="roundRect">
            <a:avLst>
              <a:gd name="adj" fmla="val 4706"/>
            </a:avLst>
          </a:prstGeom>
          <a:solidFill>
            <a:srgbClr val="14243E"/>
          </a:solidFill>
          <a:ln/>
          <a:effectLst>
            <a:outerShdw blurRad="76200" dist="25400" dir="5400000" algn="bl" rotWithShape="0">
              <a:srgbClr val="000000">
                <a:alpha val="20000"/>
              </a:srgbClr>
            </a:outerShdw>
          </a:effectLst>
        </p:spPr>
      </p:sp>
      <p:sp>
        <p:nvSpPr>
          <p:cNvPr id="20" name="Shape 15"/>
          <p:cNvSpPr/>
          <p:nvPr/>
        </p:nvSpPr>
        <p:spPr>
          <a:xfrm>
            <a:off x="4754880" y="3017520"/>
            <a:ext cx="54864" cy="1554480"/>
          </a:xfrm>
          <a:prstGeom prst="rect">
            <a:avLst/>
          </a:prstGeom>
          <a:solidFill>
            <a:srgbClr val="F5B041"/>
          </a:solidFill>
          <a:ln/>
        </p:spPr>
      </p:sp>
      <p:pic>
        <p:nvPicPr>
          <p:cNvPr id="21" name="Image 3" descr="preencoded.png"/>
          <p:cNvPicPr>
            <a:picLocks noChangeAspect="1"/>
          </p:cNvPicPr>
          <p:nvPr/>
        </p:nvPicPr>
        <p:blipFill>
          <a:blip r:embed="rId6"/>
          <a:stretch>
            <a:fillRect/>
          </a:stretch>
        </p:blipFill>
        <p:spPr>
          <a:xfrm>
            <a:off x="4937760" y="3154680"/>
            <a:ext cx="365760" cy="365760"/>
          </a:xfrm>
          <a:prstGeom prst="rect">
            <a:avLst/>
          </a:prstGeom>
        </p:spPr>
      </p:pic>
      <p:sp>
        <p:nvSpPr>
          <p:cNvPr id="22" name="Text 16"/>
          <p:cNvSpPr/>
          <p:nvPr/>
        </p:nvSpPr>
        <p:spPr>
          <a:xfrm>
            <a:off x="539496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Demo-Ready Setup</a:t>
            </a:r>
            <a:endParaRPr lang="en-US" sz="1300" dirty="0"/>
          </a:p>
        </p:txBody>
      </p:sp>
      <p:sp>
        <p:nvSpPr>
          <p:cNvPr id="23" name="Text 17"/>
          <p:cNvSpPr/>
          <p:nvPr/>
        </p:nvSpPr>
        <p:spPr>
          <a:xfrm>
            <a:off x="4937760" y="3520440"/>
            <a:ext cx="3840480" cy="914400"/>
          </a:xfrm>
          <a:prstGeom prst="rect">
            <a:avLst/>
          </a:prstGeom>
          <a:noFill/>
          <a:ln/>
        </p:spPr>
        <p:txBody>
          <a:bodyPr wrap="square" lIns="0" tIns="0" rIns="0" bIns="0" rtlCol="0" anchor="t"/>
          <a:lstStyle/>
          <a:p>
            <a:pPr marL="0" indent="0">
              <a:buNone/>
            </a:pPr>
            <a:r>
              <a:rPr sz="1100">
                <a:solidFill>
                  <a:srgbClr val="94A3B8"/>
                </a:solidFill>
                <a:latin typeface="Calibri"/>
              </a:rPr>
              <a:t>Customer chat, admin chat, JWT login and one-click startup were tested together for the update demonstration.</a:t>
            </a:r>
            <a:endParaRPr lang="en-US" sz="1100" dirty="0"/>
          </a:p>
        </p:txBody>
      </p:sp>
      <p:sp>
        <p:nvSpPr>
          <p:cNvPr id="24"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5"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SHAKIB UPDATE  •  FRONTEND</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React Frontend Became API-Driven</a:t>
            </a:r>
            <a:endParaRPr lang="en-US" sz="2600" dirty="0"/>
          </a:p>
        </p:txBody>
      </p:sp>
      <p:sp>
        <p:nvSpPr>
          <p:cNvPr id="4" name="Shape 2"/>
          <p:cNvSpPr/>
          <p:nvPr/>
        </p:nvSpPr>
        <p:spPr>
          <a:xfrm>
            <a:off x="365760" y="1280160"/>
            <a:ext cx="5303520" cy="3383280"/>
          </a:xfrm>
          <a:prstGeom prst="roundRect">
            <a:avLst>
              <a:gd name="adj" fmla="val 2703"/>
            </a:avLst>
          </a:prstGeom>
          <a:solidFill>
            <a:srgbClr val="14243E"/>
          </a:solidFill>
          <a:ln/>
        </p:spPr>
      </p:sp>
      <p:sp>
        <p:nvSpPr>
          <p:cNvPr id="5" name="Text 3"/>
          <p:cNvSpPr/>
          <p:nvPr/>
        </p:nvSpPr>
        <p:spPr>
          <a:xfrm>
            <a:off x="548640" y="1417320"/>
            <a:ext cx="4937760" cy="320040"/>
          </a:xfrm>
          <a:prstGeom prst="rect">
            <a:avLst/>
          </a:prstGeom>
          <a:noFill/>
          <a:ln/>
        </p:spPr>
        <p:txBody>
          <a:bodyPr wrap="square" lIns="0" tIns="0" rIns="0" bIns="0" rtlCol="0" anchor="ctr"/>
          <a:lstStyle/>
          <a:p>
            <a:pPr marL="0" indent="0">
              <a:buNone/>
            </a:pPr>
            <a:r>
              <a:rPr sz="1600" b="1">
                <a:solidFill>
                  <a:srgbClr val="2EE5BA"/>
                </a:solidFill>
                <a:latin typeface="Calibri"/>
              </a:rPr>
              <a:t>Core Progress</a:t>
            </a:r>
            <a:endParaRPr lang="en-US" sz="1600" dirty="0"/>
          </a:p>
        </p:txBody>
      </p:sp>
      <p:sp>
        <p:nvSpPr>
          <p:cNvPr id="6" name="Text 4"/>
          <p:cNvSpPr/>
          <p:nvPr/>
        </p:nvSpPr>
        <p:spPr>
          <a:xfrm>
            <a:off x="548640" y="1828800"/>
            <a:ext cx="4937760" cy="2651760"/>
          </a:xfrm>
          <a:prstGeom prst="rect">
            <a:avLst/>
          </a:prstGeom>
          <a:noFill/>
          <a:ln/>
        </p:spPr>
        <p:txBody>
          <a:bodyPr wrap="square" lIns="0" tIns="0" rIns="0" bIns="0" rtlCol="0" anchor="t"/>
          <a:lstStyle/>
          <a:p>
            <a:pPr marL="0" indent="0">
              <a:buNone/>
            </a:pPr>
            <a:r>
              <a:rPr sz="1500">
                <a:solidFill>
                  <a:srgbClr val="94A3B8"/>
                </a:solidFill>
                <a:latin typeface="Calibri"/>
              </a:rPr>
              <a:t>The latest frontend moved away from temporary local cart and order state. Multiple pages now communicate with backend REST APIs for products, categories, cart, checkout and order data.</a:t>
            </a:r>
            <a:endParaRPr lang="en-US" sz="1300" dirty="0"/>
          </a:p>
          <a:p>
            <a:endParaRPr lang="en-US" sz="1300" dirty="0"/>
          </a:p>
          <a:p>
            <a:r>
              <a:rPr sz="1500">
                <a:solidFill>
                  <a:srgbClr val="94A3B8"/>
                </a:solidFill>
                <a:latin typeface="Calibri"/>
              </a:rPr>
              <a:t>The frontend also kept the customer chatbot request path required by our AI integration, so the missing part was the backend endpoint.</a:t>
            </a:r>
          </a:p>
        </p:txBody>
      </p:sp>
      <p:sp>
        <p:nvSpPr>
          <p:cNvPr id="7" name="Shape 5"/>
          <p:cNvSpPr/>
          <p:nvPr/>
        </p:nvSpPr>
        <p:spPr>
          <a:xfrm>
            <a:off x="5852160" y="1280160"/>
            <a:ext cx="2926080" cy="731520"/>
          </a:xfrm>
          <a:prstGeom prst="roundRect">
            <a:avLst>
              <a:gd name="adj" fmla="val 10000"/>
            </a:avLst>
          </a:prstGeom>
          <a:solidFill>
            <a:srgbClr val="14243E"/>
          </a:solidFill>
          <a:ln/>
        </p:spPr>
      </p:sp>
      <p:pic>
        <p:nvPicPr>
          <p:cNvPr id="8" name="Image 0" descr="preencoded.png"/>
          <p:cNvPicPr>
            <a:picLocks noChangeAspect="1"/>
          </p:cNvPicPr>
          <p:nvPr/>
        </p:nvPicPr>
        <p:blipFill>
          <a:blip r:embed="rId3"/>
          <a:stretch>
            <a:fillRect/>
          </a:stretch>
        </p:blipFill>
        <p:spPr>
          <a:xfrm>
            <a:off x="5989320" y="1417320"/>
            <a:ext cx="320040" cy="320040"/>
          </a:xfrm>
          <a:prstGeom prst="rect">
            <a:avLst/>
          </a:prstGeom>
        </p:spPr>
      </p:pic>
      <p:sp>
        <p:nvSpPr>
          <p:cNvPr id="9" name="Text 6"/>
          <p:cNvSpPr/>
          <p:nvPr/>
        </p:nvSpPr>
        <p:spPr>
          <a:xfrm>
            <a:off x="6400800" y="137160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JWT login and logout handled in React</a:t>
            </a:r>
            <a:endParaRPr lang="en-US" sz="1100" dirty="0"/>
          </a:p>
        </p:txBody>
      </p:sp>
      <p:sp>
        <p:nvSpPr>
          <p:cNvPr id="10" name="Shape 7"/>
          <p:cNvSpPr/>
          <p:nvPr/>
        </p:nvSpPr>
        <p:spPr>
          <a:xfrm>
            <a:off x="5852160" y="2103120"/>
            <a:ext cx="2926080" cy="731520"/>
          </a:xfrm>
          <a:prstGeom prst="roundRect">
            <a:avLst>
              <a:gd name="adj" fmla="val 10000"/>
            </a:avLst>
          </a:prstGeom>
          <a:solidFill>
            <a:srgbClr val="14243E"/>
          </a:solidFill>
          <a:ln/>
        </p:spPr>
      </p:sp>
      <p:pic>
        <p:nvPicPr>
          <p:cNvPr id="11" name="Image 1" descr="preencoded.png"/>
          <p:cNvPicPr>
            <a:picLocks noChangeAspect="1"/>
          </p:cNvPicPr>
          <p:nvPr/>
        </p:nvPicPr>
        <p:blipFill>
          <a:blip r:embed="rId4"/>
          <a:stretch>
            <a:fillRect/>
          </a:stretch>
        </p:blipFill>
        <p:spPr>
          <a:xfrm>
            <a:off x="5989320" y="2240280"/>
            <a:ext cx="320040" cy="320040"/>
          </a:xfrm>
          <a:prstGeom prst="rect">
            <a:avLst/>
          </a:prstGeom>
        </p:spPr>
      </p:pic>
      <p:sp>
        <p:nvSpPr>
          <p:cNvPr id="12" name="Text 8"/>
          <p:cNvSpPr/>
          <p:nvPr/>
        </p:nvSpPr>
        <p:spPr>
          <a:xfrm>
            <a:off x="6400800" y="219456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Products, categories and cart call backend APIs</a:t>
            </a:r>
            <a:endParaRPr lang="en-US" sz="1100" dirty="0"/>
          </a:p>
        </p:txBody>
      </p:sp>
      <p:sp>
        <p:nvSpPr>
          <p:cNvPr id="13" name="Shape 9"/>
          <p:cNvSpPr/>
          <p:nvPr/>
        </p:nvSpPr>
        <p:spPr>
          <a:xfrm>
            <a:off x="5852160" y="2926080"/>
            <a:ext cx="2926080" cy="731520"/>
          </a:xfrm>
          <a:prstGeom prst="roundRect">
            <a:avLst>
              <a:gd name="adj" fmla="val 10000"/>
            </a:avLst>
          </a:prstGeom>
          <a:solidFill>
            <a:srgbClr val="14243E"/>
          </a:solidFill>
          <a:ln/>
        </p:spPr>
      </p:sp>
      <p:pic>
        <p:nvPicPr>
          <p:cNvPr id="14" name="Image 2" descr="preencoded.png"/>
          <p:cNvPicPr>
            <a:picLocks noChangeAspect="1"/>
          </p:cNvPicPr>
          <p:nvPr/>
        </p:nvPicPr>
        <p:blipFill>
          <a:blip r:embed="rId5"/>
          <a:stretch>
            <a:fillRect/>
          </a:stretch>
        </p:blipFill>
        <p:spPr>
          <a:xfrm>
            <a:off x="5989320" y="3063240"/>
            <a:ext cx="320040" cy="320040"/>
          </a:xfrm>
          <a:prstGeom prst="rect">
            <a:avLst/>
          </a:prstGeom>
        </p:spPr>
      </p:pic>
      <p:sp>
        <p:nvSpPr>
          <p:cNvPr id="15" name="Text 10"/>
          <p:cNvSpPr/>
          <p:nvPr/>
        </p:nvSpPr>
        <p:spPr>
          <a:xfrm>
            <a:off x="6400800" y="301752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Checkout and orders request backend data</a:t>
            </a:r>
            <a:endParaRPr lang="en-US" sz="1100" dirty="0"/>
          </a:p>
        </p:txBody>
      </p:sp>
      <p:sp>
        <p:nvSpPr>
          <p:cNvPr id="16" name="Shape 11"/>
          <p:cNvSpPr/>
          <p:nvPr/>
        </p:nvSpPr>
        <p:spPr>
          <a:xfrm>
            <a:off x="5852160" y="3749040"/>
            <a:ext cx="2926080" cy="731520"/>
          </a:xfrm>
          <a:prstGeom prst="roundRect">
            <a:avLst>
              <a:gd name="adj" fmla="val 10000"/>
            </a:avLst>
          </a:prstGeom>
          <a:solidFill>
            <a:srgbClr val="14243E"/>
          </a:solidFill>
          <a:ln/>
        </p:spPr>
      </p:sp>
      <p:pic>
        <p:nvPicPr>
          <p:cNvPr id="17" name="Image 3" descr="preencoded.png"/>
          <p:cNvPicPr>
            <a:picLocks noChangeAspect="1"/>
          </p:cNvPicPr>
          <p:nvPr/>
        </p:nvPicPr>
        <p:blipFill>
          <a:blip r:embed="rId6"/>
          <a:stretch>
            <a:fillRect/>
          </a:stretch>
        </p:blipFill>
        <p:spPr>
          <a:xfrm>
            <a:off x="5989320" y="3886200"/>
            <a:ext cx="320040" cy="320040"/>
          </a:xfrm>
          <a:prstGeom prst="rect">
            <a:avLst/>
          </a:prstGeom>
        </p:spPr>
      </p:pic>
      <p:sp>
        <p:nvSpPr>
          <p:cNvPr id="18" name="Text 12"/>
          <p:cNvSpPr/>
          <p:nvPr/>
        </p:nvSpPr>
        <p:spPr>
          <a:xfrm>
            <a:off x="6400800" y="3840480"/>
            <a:ext cx="2286000" cy="548640"/>
          </a:xfrm>
          <a:prstGeom prst="rect">
            <a:avLst/>
          </a:prstGeom>
          <a:noFill/>
          <a:ln/>
        </p:spPr>
        <p:txBody>
          <a:bodyPr wrap="square" lIns="0" tIns="0" rIns="0" bIns="0" rtlCol="0" anchor="ctr"/>
          <a:lstStyle/>
          <a:p>
            <a:pPr marL="0" indent="0">
              <a:buNone/>
            </a:pPr>
            <a:r>
              <a:rPr sz="1100">
                <a:solidFill>
                  <a:srgbClr val="FFFFFF"/>
                </a:solidFill>
                <a:latin typeface="Calibri"/>
              </a:rPr>
              <a:t>Customer chat still calls /api/ai/chat/</a:t>
            </a:r>
            <a:endParaRPr lang="en-US" sz="1100" dirty="0"/>
          </a:p>
        </p:txBody>
      </p:sp>
      <p:sp>
        <p:nvSpPr>
          <p:cNvPr id="19" name="Text 13"/>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0" name="Text 14"/>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SHAKIB UPDATE  •  FRONTEND DETAILS</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Pages Updated in the Latest Frontend</a:t>
            </a:r>
            <a:endParaRPr lang="en-US" sz="2600" dirty="0"/>
          </a:p>
        </p:txBody>
      </p:sp>
      <p:sp>
        <p:nvSpPr>
          <p:cNvPr id="4" name="Shape 2"/>
          <p:cNvSpPr/>
          <p:nvPr/>
        </p:nvSpPr>
        <p:spPr>
          <a:xfrm>
            <a:off x="365760" y="1234440"/>
            <a:ext cx="4114800" cy="3520440"/>
          </a:xfrm>
          <a:prstGeom prst="roundRect">
            <a:avLst>
              <a:gd name="adj" fmla="val 2597"/>
            </a:avLst>
          </a:prstGeom>
          <a:solidFill>
            <a:srgbClr val="14243E"/>
          </a:solidFill>
          <a:ln/>
        </p:spPr>
      </p:sp>
      <p:sp>
        <p:nvSpPr>
          <p:cNvPr id="5" name="Shape 3"/>
          <p:cNvSpPr/>
          <p:nvPr/>
        </p:nvSpPr>
        <p:spPr>
          <a:xfrm>
            <a:off x="365760" y="1234440"/>
            <a:ext cx="73152" cy="352044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94360" y="1371600"/>
            <a:ext cx="411480" cy="411480"/>
          </a:xfrm>
          <a:prstGeom prst="rect">
            <a:avLst/>
          </a:prstGeom>
        </p:spPr>
      </p:pic>
      <p:sp>
        <p:nvSpPr>
          <p:cNvPr id="7" name="Text 4"/>
          <p:cNvSpPr/>
          <p:nvPr/>
        </p:nvSpPr>
        <p:spPr>
          <a:xfrm>
            <a:off x="1097280" y="1417320"/>
            <a:ext cx="3200400" cy="365760"/>
          </a:xfrm>
          <a:prstGeom prst="rect">
            <a:avLst/>
          </a:prstGeom>
          <a:noFill/>
          <a:ln/>
        </p:spPr>
        <p:txBody>
          <a:bodyPr wrap="square" lIns="0" tIns="0" rIns="0" bIns="0" rtlCol="0" anchor="ctr"/>
          <a:lstStyle/>
          <a:p>
            <a:pPr marL="0" indent="0">
              <a:buNone/>
            </a:pPr>
            <a:r>
              <a:rPr sz="1800" b="1">
                <a:solidFill>
                  <a:srgbClr val="FFFFFF"/>
                </a:solidFill>
                <a:latin typeface="Calibri"/>
              </a:rPr>
              <a:t>Shopping Interface</a:t>
            </a:r>
            <a:endParaRPr lang="en-US" sz="1800" dirty="0"/>
          </a:p>
        </p:txBody>
      </p:sp>
      <p:sp>
        <p:nvSpPr>
          <p:cNvPr id="8" name="Text 5"/>
          <p:cNvSpPr/>
          <p:nvPr/>
        </p:nvSpPr>
        <p:spPr>
          <a:xfrm>
            <a:off x="594360" y="196596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Products page loads backend product data</a:t>
            </a:r>
            <a:endParaRPr lang="en-US" sz="1300" dirty="0"/>
          </a:p>
        </p:txBody>
      </p:sp>
      <p:sp>
        <p:nvSpPr>
          <p:cNvPr id="9" name="Text 6"/>
          <p:cNvSpPr/>
          <p:nvPr/>
        </p:nvSpPr>
        <p:spPr>
          <a:xfrm>
            <a:off x="594360" y="246888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Category pages request backend category data</a:t>
            </a:r>
            <a:endParaRPr lang="en-US" sz="1300" dirty="0"/>
          </a:p>
        </p:txBody>
      </p:sp>
      <p:sp>
        <p:nvSpPr>
          <p:cNvPr id="10" name="Text 7"/>
          <p:cNvSpPr/>
          <p:nvPr/>
        </p:nvSpPr>
        <p:spPr>
          <a:xfrm>
            <a:off x="594360" y="297180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Cart page loads and removes backend cart items</a:t>
            </a:r>
            <a:endParaRPr lang="en-US" sz="1300" dirty="0"/>
          </a:p>
        </p:txBody>
      </p:sp>
      <p:sp>
        <p:nvSpPr>
          <p:cNvPr id="11" name="Text 8"/>
          <p:cNvSpPr/>
          <p:nvPr/>
        </p:nvSpPr>
        <p:spPr>
          <a:xfrm>
            <a:off x="594360" y="347472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Checkout sends order creation request</a:t>
            </a:r>
            <a:endParaRPr lang="en-US" sz="1300" dirty="0"/>
          </a:p>
        </p:txBody>
      </p:sp>
      <p:sp>
        <p:nvSpPr>
          <p:cNvPr id="12" name="Text 9"/>
          <p:cNvSpPr/>
          <p:nvPr/>
        </p:nvSpPr>
        <p:spPr>
          <a:xfrm>
            <a:off x="594360" y="397764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Order pages load order history and details</a:t>
            </a:r>
            <a:endParaRPr lang="en-US" sz="1300" dirty="0"/>
          </a:p>
        </p:txBody>
      </p:sp>
      <p:sp>
        <p:nvSpPr>
          <p:cNvPr id="13" name="Shape 10"/>
          <p:cNvSpPr/>
          <p:nvPr/>
        </p:nvSpPr>
        <p:spPr>
          <a:xfrm>
            <a:off x="4663440" y="1234440"/>
            <a:ext cx="4114800" cy="3520440"/>
          </a:xfrm>
          <a:prstGeom prst="roundRect">
            <a:avLst>
              <a:gd name="adj" fmla="val 2597"/>
            </a:avLst>
          </a:prstGeom>
          <a:solidFill>
            <a:srgbClr val="14243E"/>
          </a:solidFill>
          <a:ln/>
        </p:spPr>
      </p:sp>
      <p:sp>
        <p:nvSpPr>
          <p:cNvPr id="14" name="Shape 11"/>
          <p:cNvSpPr/>
          <p:nvPr/>
        </p:nvSpPr>
        <p:spPr>
          <a:xfrm>
            <a:off x="4663440" y="1234440"/>
            <a:ext cx="73152" cy="3520440"/>
          </a:xfrm>
          <a:prstGeom prst="rect">
            <a:avLst/>
          </a:prstGeom>
          <a:solidFill>
            <a:srgbClr val="F5B041"/>
          </a:solidFill>
          <a:ln/>
        </p:spPr>
      </p:sp>
      <p:pic>
        <p:nvPicPr>
          <p:cNvPr id="15" name="Image 1" descr="preencoded.png"/>
          <p:cNvPicPr>
            <a:picLocks noChangeAspect="1"/>
          </p:cNvPicPr>
          <p:nvPr/>
        </p:nvPicPr>
        <p:blipFill>
          <a:blip r:embed="rId4"/>
          <a:stretch>
            <a:fillRect/>
          </a:stretch>
        </p:blipFill>
        <p:spPr>
          <a:xfrm>
            <a:off x="4892040" y="1371600"/>
            <a:ext cx="411480" cy="411480"/>
          </a:xfrm>
          <a:prstGeom prst="rect">
            <a:avLst/>
          </a:prstGeom>
        </p:spPr>
      </p:pic>
      <p:sp>
        <p:nvSpPr>
          <p:cNvPr id="16" name="Text 12"/>
          <p:cNvSpPr/>
          <p:nvPr/>
        </p:nvSpPr>
        <p:spPr>
          <a:xfrm>
            <a:off x="5394960" y="1417320"/>
            <a:ext cx="3200400" cy="365760"/>
          </a:xfrm>
          <a:prstGeom prst="rect">
            <a:avLst/>
          </a:prstGeom>
          <a:noFill/>
          <a:ln/>
        </p:spPr>
        <p:txBody>
          <a:bodyPr wrap="square" lIns="0" tIns="0" rIns="0" bIns="0" rtlCol="0" anchor="ctr"/>
          <a:lstStyle/>
          <a:p>
            <a:pPr marL="0" indent="0">
              <a:buNone/>
            </a:pPr>
            <a:r>
              <a:rPr sz="1800" b="1">
                <a:solidFill>
                  <a:srgbClr val="FFFFFF"/>
                </a:solidFill>
                <a:latin typeface="Calibri"/>
              </a:rPr>
              <a:t>User &amp; Support Flow</a:t>
            </a:r>
            <a:endParaRPr lang="en-US" sz="1800" dirty="0"/>
          </a:p>
        </p:txBody>
      </p:sp>
      <p:sp>
        <p:nvSpPr>
          <p:cNvPr id="17" name="Text 13"/>
          <p:cNvSpPr/>
          <p:nvPr/>
        </p:nvSpPr>
        <p:spPr>
          <a:xfrm>
            <a:off x="4892040" y="196596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Login stores access and refresh tokens</a:t>
            </a:r>
            <a:endParaRPr lang="en-US" sz="1300" dirty="0"/>
          </a:p>
        </p:txBody>
      </p:sp>
      <p:sp>
        <p:nvSpPr>
          <p:cNvPr id="18" name="Text 14"/>
          <p:cNvSpPr/>
          <p:nvPr/>
        </p:nvSpPr>
        <p:spPr>
          <a:xfrm>
            <a:off x="4892040" y="246888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Navbar shows logout based on token state</a:t>
            </a:r>
            <a:endParaRPr lang="en-US" sz="1300" dirty="0"/>
          </a:p>
        </p:txBody>
      </p:sp>
      <p:sp>
        <p:nvSpPr>
          <p:cNvPr id="19" name="Text 15"/>
          <p:cNvSpPr/>
          <p:nvPr/>
        </p:nvSpPr>
        <p:spPr>
          <a:xfrm>
            <a:off x="4892040" y="297180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Register submits account data to backend</a:t>
            </a:r>
            <a:endParaRPr lang="en-US" sz="1300" dirty="0"/>
          </a:p>
        </p:txBody>
      </p:sp>
      <p:sp>
        <p:nvSpPr>
          <p:cNvPr id="20" name="Text 16"/>
          <p:cNvSpPr/>
          <p:nvPr/>
        </p:nvSpPr>
        <p:spPr>
          <a:xfrm>
            <a:off x="4892040" y="347472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Chat page design improved with Tailwind UI</a:t>
            </a:r>
            <a:endParaRPr lang="en-US" sz="1300" dirty="0"/>
          </a:p>
        </p:txBody>
      </p:sp>
      <p:sp>
        <p:nvSpPr>
          <p:cNvPr id="21" name="Text 17"/>
          <p:cNvSpPr/>
          <p:nvPr/>
        </p:nvSpPr>
        <p:spPr>
          <a:xfrm>
            <a:off x="4892040" y="3977640"/>
            <a:ext cx="3749040" cy="457200"/>
          </a:xfrm>
          <a:prstGeom prst="rect">
            <a:avLst/>
          </a:prstGeom>
          <a:noFill/>
          <a:ln/>
        </p:spPr>
        <p:txBody>
          <a:bodyPr wrap="square" lIns="0" tIns="0" rIns="0" bIns="0" rtlCol="0" anchor="ctr"/>
          <a:lstStyle/>
          <a:p>
            <a:pPr marL="0" indent="0">
              <a:buNone/>
            </a:pPr>
            <a:r>
              <a:rPr sz="1300">
                <a:solidFill>
                  <a:srgbClr val="94A3B8"/>
                </a:solidFill>
                <a:latin typeface="Calibri"/>
              </a:rPr>
              <a:t>▸  NotFound page redesigned with clear CTA</a:t>
            </a:r>
            <a:endParaRPr lang="en-US" sz="1300" dirty="0"/>
          </a:p>
        </p:txBody>
      </p:sp>
      <p:sp>
        <p:nvSpPr>
          <p:cNvPr id="22"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3"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RAHAT UPDATE  •  BACKEND REVIEW</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Latest Django Backend Baseline</a:t>
            </a:r>
            <a:endParaRPr lang="en-US" sz="2600" dirty="0"/>
          </a:p>
        </p:txBody>
      </p:sp>
      <p:sp>
        <p:nvSpPr>
          <p:cNvPr id="4" name="Shape 2"/>
          <p:cNvSpPr/>
          <p:nvPr/>
        </p:nvSpPr>
        <p:spPr>
          <a:xfrm>
            <a:off x="365760" y="1234440"/>
            <a:ext cx="4114800" cy="3520440"/>
          </a:xfrm>
          <a:prstGeom prst="roundRect">
            <a:avLst>
              <a:gd name="adj" fmla="val 2597"/>
            </a:avLst>
          </a:prstGeom>
          <a:solidFill>
            <a:srgbClr val="14243E"/>
          </a:solidFill>
          <a:ln/>
        </p:spPr>
      </p:sp>
      <p:sp>
        <p:nvSpPr>
          <p:cNvPr id="5" name="Shape 3"/>
          <p:cNvSpPr/>
          <p:nvPr/>
        </p:nvSpPr>
        <p:spPr>
          <a:xfrm>
            <a:off x="365760" y="1234440"/>
            <a:ext cx="73152" cy="352044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94360" y="1371600"/>
            <a:ext cx="411480" cy="411480"/>
          </a:xfrm>
          <a:prstGeom prst="rect">
            <a:avLst/>
          </a:prstGeom>
        </p:spPr>
      </p:pic>
      <p:sp>
        <p:nvSpPr>
          <p:cNvPr id="7" name="Text 4"/>
          <p:cNvSpPr/>
          <p:nvPr/>
        </p:nvSpPr>
        <p:spPr>
          <a:xfrm>
            <a:off x="1097280" y="1417320"/>
            <a:ext cx="3200400" cy="365760"/>
          </a:xfrm>
          <a:prstGeom prst="rect">
            <a:avLst/>
          </a:prstGeom>
          <a:noFill/>
          <a:ln/>
        </p:spPr>
        <p:txBody>
          <a:bodyPr wrap="square" lIns="0" tIns="0" rIns="0" bIns="0" rtlCol="0" anchor="ctr"/>
          <a:lstStyle/>
          <a:p>
            <a:pPr marL="0" indent="0">
              <a:buNone/>
            </a:pPr>
            <a:r>
              <a:rPr sz="1600" b="1">
                <a:solidFill>
                  <a:srgbClr val="FFFFFF"/>
                </a:solidFill>
                <a:latin typeface="Calibri"/>
              </a:rPr>
              <a:t>What Was Already Present</a:t>
            </a:r>
            <a:endParaRPr lang="en-US" sz="1600" dirty="0"/>
          </a:p>
        </p:txBody>
      </p:sp>
      <p:sp>
        <p:nvSpPr>
          <p:cNvPr id="8" name="Text 5"/>
          <p:cNvSpPr/>
          <p:nvPr/>
        </p:nvSpPr>
        <p:spPr>
          <a:xfrm>
            <a:off x="594360" y="1920240"/>
            <a:ext cx="3749040" cy="731520"/>
          </a:xfrm>
          <a:prstGeom prst="rect">
            <a:avLst/>
          </a:prstGeom>
          <a:noFill/>
          <a:ln/>
        </p:spPr>
        <p:txBody>
          <a:bodyPr wrap="square" lIns="0" tIns="0" rIns="0" bIns="0" rtlCol="0" anchor="ctr"/>
          <a:lstStyle/>
          <a:p>
            <a:pPr marL="0" indent="0">
              <a:buNone/>
            </a:pPr>
            <a:r>
              <a:rPr sz="1400">
                <a:solidFill>
                  <a:srgbClr val="94A3B8"/>
                </a:solidFill>
                <a:latin typeface="Calibri"/>
              </a:rPr>
              <a:t>Rahat’s backend already used Django REST Framework viewsets for normal database CRUD areas: users, store, cart, orders, chat records and core settings.</a:t>
            </a:r>
            <a:endParaRPr lang="en-US" sz="1200" dirty="0"/>
          </a:p>
        </p:txBody>
      </p:sp>
      <p:sp>
        <p:nvSpPr>
          <p:cNvPr id="9" name="Text 6"/>
          <p:cNvSpPr/>
          <p:nvPr/>
        </p:nvSpPr>
        <p:spPr>
          <a:xfrm>
            <a:off x="594360" y="2651760"/>
            <a:ext cx="3749040" cy="274320"/>
          </a:xfrm>
          <a:prstGeom prst="rect">
            <a:avLst/>
          </a:prstGeom>
          <a:noFill/>
          <a:ln/>
        </p:spPr>
        <p:txBody>
          <a:bodyPr wrap="square" lIns="0" tIns="0" rIns="0" bIns="0" rtlCol="0" anchor="ctr"/>
          <a:lstStyle/>
          <a:p>
            <a:pPr marL="0" indent="0">
              <a:buNone/>
            </a:pPr>
            <a:r>
              <a:rPr sz="1200" b="1">
                <a:solidFill>
                  <a:srgbClr val="2EE5BA"/>
                </a:solidFill>
                <a:latin typeface="Calibri"/>
              </a:rPr>
              <a:t>Main Useful Changes:</a:t>
            </a:r>
            <a:endParaRPr lang="en-US" sz="1200" dirty="0"/>
          </a:p>
        </p:txBody>
      </p:sp>
      <p:sp>
        <p:nvSpPr>
          <p:cNvPr id="10" name="Text 7"/>
          <p:cNvSpPr/>
          <p:nvPr/>
        </p:nvSpPr>
        <p:spPr>
          <a:xfrm>
            <a:off x="594360" y="2926080"/>
            <a:ext cx="3749040" cy="1645920"/>
          </a:xfrm>
          <a:prstGeom prst="rect">
            <a:avLst/>
          </a:prstGeom>
          <a:noFill/>
          <a:ln/>
        </p:spPr>
        <p:txBody>
          <a:bodyPr wrap="square" lIns="0" tIns="0" rIns="0" bIns="0" rtlCol="0" anchor="t"/>
          <a:lstStyle/>
          <a:p>
            <a:pPr marL="0" indent="0">
              <a:buNone/>
            </a:pPr>
            <a:r>
              <a:rPr sz="1400">
                <a:solidFill>
                  <a:srgbClr val="94A3B8"/>
                </a:solidFill>
                <a:latin typeface="Calibri"/>
              </a:rPr>
              <a:t>Username field migration updated maximum length from 120 to 150 characters. STATIC_ROOT was added for collected static files. Sample monitor category and Dell product existed in SQLite.</a:t>
            </a:r>
            <a:endParaRPr lang="en-US" sz="1200" dirty="0"/>
          </a:p>
        </p:txBody>
      </p:sp>
      <p:sp>
        <p:nvSpPr>
          <p:cNvPr id="11" name="Shape 8"/>
          <p:cNvSpPr/>
          <p:nvPr/>
        </p:nvSpPr>
        <p:spPr>
          <a:xfrm>
            <a:off x="4663440" y="1234440"/>
            <a:ext cx="4114800" cy="3520440"/>
          </a:xfrm>
          <a:prstGeom prst="roundRect">
            <a:avLst>
              <a:gd name="adj" fmla="val 2597"/>
            </a:avLst>
          </a:prstGeom>
          <a:solidFill>
            <a:srgbClr val="14243E"/>
          </a:solidFill>
          <a:ln/>
        </p:spPr>
      </p:sp>
      <p:sp>
        <p:nvSpPr>
          <p:cNvPr id="12" name="Shape 9"/>
          <p:cNvSpPr/>
          <p:nvPr/>
        </p:nvSpPr>
        <p:spPr>
          <a:xfrm>
            <a:off x="4663440" y="1234440"/>
            <a:ext cx="73152" cy="3520440"/>
          </a:xfrm>
          <a:prstGeom prst="rect">
            <a:avLst/>
          </a:prstGeom>
          <a:solidFill>
            <a:srgbClr val="F5B041"/>
          </a:solidFill>
          <a:ln/>
        </p:spPr>
      </p:sp>
      <p:pic>
        <p:nvPicPr>
          <p:cNvPr id="13" name="Image 1" descr="preencoded.png"/>
          <p:cNvPicPr>
            <a:picLocks noChangeAspect="1"/>
          </p:cNvPicPr>
          <p:nvPr/>
        </p:nvPicPr>
        <p:blipFill>
          <a:blip r:embed="rId4"/>
          <a:stretch>
            <a:fillRect/>
          </a:stretch>
        </p:blipFill>
        <p:spPr>
          <a:xfrm>
            <a:off x="4892040" y="1371600"/>
            <a:ext cx="411480" cy="411480"/>
          </a:xfrm>
          <a:prstGeom prst="rect">
            <a:avLst/>
          </a:prstGeom>
        </p:spPr>
      </p:pic>
      <p:sp>
        <p:nvSpPr>
          <p:cNvPr id="14" name="Text 10"/>
          <p:cNvSpPr/>
          <p:nvPr/>
        </p:nvSpPr>
        <p:spPr>
          <a:xfrm>
            <a:off x="5394960" y="1417320"/>
            <a:ext cx="3200400" cy="365760"/>
          </a:xfrm>
          <a:prstGeom prst="rect">
            <a:avLst/>
          </a:prstGeom>
          <a:noFill/>
          <a:ln/>
        </p:spPr>
        <p:txBody>
          <a:bodyPr wrap="square" lIns="0" tIns="0" rIns="0" bIns="0" rtlCol="0" anchor="ctr"/>
          <a:lstStyle/>
          <a:p>
            <a:pPr marL="0" indent="0">
              <a:buNone/>
            </a:pPr>
            <a:r>
              <a:rPr sz="1600" b="1">
                <a:solidFill>
                  <a:srgbClr val="FFFFFF"/>
                </a:solidFill>
                <a:latin typeface="Calibri"/>
              </a:rPr>
              <a:t>What Was Missing</a:t>
            </a:r>
            <a:endParaRPr lang="en-US" sz="1600" dirty="0"/>
          </a:p>
        </p:txBody>
      </p:sp>
      <p:sp>
        <p:nvSpPr>
          <p:cNvPr id="15" name="Text 11"/>
          <p:cNvSpPr/>
          <p:nvPr/>
        </p:nvSpPr>
        <p:spPr>
          <a:xfrm>
            <a:off x="4892040" y="1920240"/>
            <a:ext cx="3749040" cy="731520"/>
          </a:xfrm>
          <a:prstGeom prst="rect">
            <a:avLst/>
          </a:prstGeom>
          <a:noFill/>
          <a:ln/>
        </p:spPr>
        <p:txBody>
          <a:bodyPr wrap="square" lIns="0" tIns="0" rIns="0" bIns="0" rtlCol="0" anchor="ctr"/>
          <a:lstStyle/>
          <a:p>
            <a:pPr marL="0" indent="0">
              <a:buNone/>
            </a:pPr>
            <a:r>
              <a:rPr sz="1400">
                <a:solidFill>
                  <a:srgbClr val="94A3B8"/>
                </a:solidFill>
                <a:latin typeface="Calibri"/>
              </a:rPr>
              <a:t>The latest backend did not include the working Ollama chatbot endpoint required by Shakib’s frontend.</a:t>
            </a:r>
            <a:endParaRPr lang="en-US" sz="1200" dirty="0"/>
          </a:p>
        </p:txBody>
      </p:sp>
      <p:sp>
        <p:nvSpPr>
          <p:cNvPr id="16" name="Text 12"/>
          <p:cNvSpPr/>
          <p:nvPr/>
        </p:nvSpPr>
        <p:spPr>
          <a:xfrm>
            <a:off x="4892040" y="2651760"/>
            <a:ext cx="3749040" cy="274320"/>
          </a:xfrm>
          <a:prstGeom prst="rect">
            <a:avLst/>
          </a:prstGeom>
          <a:noFill/>
          <a:ln/>
        </p:spPr>
        <p:txBody>
          <a:bodyPr wrap="square" lIns="0" tIns="0" rIns="0" bIns="0" rtlCol="0" anchor="ctr"/>
          <a:lstStyle/>
          <a:p>
            <a:pPr marL="0" indent="0">
              <a:buNone/>
            </a:pPr>
            <a:r>
              <a:rPr sz="1200" b="1">
                <a:solidFill>
                  <a:srgbClr val="F5B041"/>
                </a:solidFill>
                <a:latin typeface="Calibri"/>
              </a:rPr>
              <a:t>Backend Finding:</a:t>
            </a:r>
            <a:endParaRPr lang="en-US" sz="1200" dirty="0"/>
          </a:p>
        </p:txBody>
      </p:sp>
      <p:sp>
        <p:nvSpPr>
          <p:cNvPr id="17" name="Text 13"/>
          <p:cNvSpPr/>
          <p:nvPr/>
        </p:nvSpPr>
        <p:spPr>
          <a:xfrm>
            <a:off x="4892040" y="2971800"/>
            <a:ext cx="3749040" cy="365760"/>
          </a:xfrm>
          <a:prstGeom prst="rect">
            <a:avLst/>
          </a:prstGeom>
          <a:noFill/>
          <a:ln/>
        </p:spPr>
        <p:txBody>
          <a:bodyPr wrap="square" lIns="0" tIns="0" rIns="0" bIns="0" rtlCol="0" anchor="ctr"/>
          <a:lstStyle/>
          <a:p>
            <a:pPr marL="0" indent="0">
              <a:buNone/>
            </a:pPr>
            <a:r>
              <a:rPr sz="1300" i="1">
                <a:solidFill>
                  <a:srgbClr val="FFFFFF"/>
                </a:solidFill>
                <a:latin typeface="Calibri"/>
              </a:rPr>
              <a:t>•  DRF CRUD views were already present</a:t>
            </a:r>
            <a:endParaRPr lang="en-US" sz="1300" dirty="0"/>
          </a:p>
        </p:txBody>
      </p:sp>
      <p:sp>
        <p:nvSpPr>
          <p:cNvPr id="18" name="Text 14"/>
          <p:cNvSpPr/>
          <p:nvPr/>
        </p:nvSpPr>
        <p:spPr>
          <a:xfrm>
            <a:off x="4892040" y="3383280"/>
            <a:ext cx="3749040" cy="365760"/>
          </a:xfrm>
          <a:prstGeom prst="rect">
            <a:avLst/>
          </a:prstGeom>
          <a:noFill/>
          <a:ln/>
        </p:spPr>
        <p:txBody>
          <a:bodyPr wrap="square" lIns="0" tIns="0" rIns="0" bIns="0" rtlCol="0" anchor="ctr"/>
          <a:lstStyle/>
          <a:p>
            <a:pPr marL="0" indent="0">
              <a:buNone/>
            </a:pPr>
            <a:r>
              <a:rPr sz="1300" i="1">
                <a:solidFill>
                  <a:srgbClr val="FFFFFF"/>
                </a:solidFill>
                <a:latin typeface="Calibri"/>
              </a:rPr>
              <a:t>•  /api/ai/chat/ was not present</a:t>
            </a:r>
            <a:endParaRPr lang="en-US" sz="1300" dirty="0"/>
          </a:p>
        </p:txBody>
      </p:sp>
      <p:sp>
        <p:nvSpPr>
          <p:cNvPr id="19" name="Text 15"/>
          <p:cNvSpPr/>
          <p:nvPr/>
        </p:nvSpPr>
        <p:spPr>
          <a:xfrm>
            <a:off x="4892040" y="3794760"/>
            <a:ext cx="3749040" cy="365760"/>
          </a:xfrm>
          <a:prstGeom prst="rect">
            <a:avLst/>
          </a:prstGeom>
          <a:noFill/>
          <a:ln/>
        </p:spPr>
        <p:txBody>
          <a:bodyPr wrap="square" lIns="0" tIns="0" rIns="0" bIns="0" rtlCol="0" anchor="ctr"/>
          <a:lstStyle/>
          <a:p>
            <a:pPr marL="0" indent="0">
              <a:buNone/>
            </a:pPr>
            <a:r>
              <a:rPr sz="1300" i="1">
                <a:solidFill>
                  <a:srgbClr val="FFFFFF"/>
                </a:solidFill>
                <a:latin typeface="Calibri"/>
              </a:rPr>
              <a:t>•  No admin chatbot existed yet</a:t>
            </a:r>
            <a:endParaRPr lang="en-US" sz="1300" dirty="0"/>
          </a:p>
        </p:txBody>
      </p:sp>
      <p:sp>
        <p:nvSpPr>
          <p:cNvPr id="20" name="Text 16"/>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1" name="Text 17"/>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RAHAT UPDATE  •  FILE CHANGES</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Added, Modified and Removed Files</a:t>
            </a:r>
            <a:endParaRPr lang="en-US" sz="2600" dirty="0"/>
          </a:p>
        </p:txBody>
      </p:sp>
      <p:sp>
        <p:nvSpPr>
          <p:cNvPr id="4" name="Text 2"/>
          <p:cNvSpPr/>
          <p:nvPr/>
        </p:nvSpPr>
        <p:spPr>
          <a:xfrm>
            <a:off x="365760" y="1234440"/>
            <a:ext cx="8412480" cy="457200"/>
          </a:xfrm>
          <a:prstGeom prst="rect">
            <a:avLst/>
          </a:prstGeom>
          <a:noFill/>
          <a:ln/>
        </p:spPr>
        <p:txBody>
          <a:bodyPr wrap="square" lIns="0" tIns="0" rIns="0" bIns="0" rtlCol="0" anchor="ctr"/>
          <a:lstStyle/>
          <a:p>
            <a:pPr marL="0" indent="0">
              <a:buNone/>
            </a:pPr>
            <a:r>
              <a:rPr sz="1400">
                <a:solidFill>
                  <a:srgbClr val="94A3B8"/>
                </a:solidFill>
                <a:latin typeface="Calibri"/>
              </a:rPr>
              <a:t>Rahat’s latest backend was almost the same as the previous backend archive, but these changes were recorded before integration:</a:t>
            </a:r>
            <a:endParaRPr lang="en-US" sz="1400" dirty="0"/>
          </a:p>
        </p:txBody>
      </p:sp>
      <p:sp>
        <p:nvSpPr>
          <p:cNvPr id="5" name="Shape 3"/>
          <p:cNvSpPr/>
          <p:nvPr/>
        </p:nvSpPr>
        <p:spPr>
          <a:xfrm>
            <a:off x="365760" y="1783080"/>
            <a:ext cx="8412480" cy="530352"/>
          </a:xfrm>
          <a:prstGeom prst="roundRect">
            <a:avLst>
              <a:gd name="adj" fmla="val 10345"/>
            </a:avLst>
          </a:prstGeom>
          <a:solidFill>
            <a:srgbClr val="14243E"/>
          </a:solidFill>
          <a:ln/>
        </p:spPr>
      </p:sp>
      <p:pic>
        <p:nvPicPr>
          <p:cNvPr id="6" name="Image 0" descr="preencoded.png"/>
          <p:cNvPicPr>
            <a:picLocks noChangeAspect="1"/>
          </p:cNvPicPr>
          <p:nvPr/>
        </p:nvPicPr>
        <p:blipFill>
          <a:blip r:embed="rId3"/>
          <a:stretch>
            <a:fillRect/>
          </a:stretch>
        </p:blipFill>
        <p:spPr>
          <a:xfrm>
            <a:off x="502920" y="1874520"/>
            <a:ext cx="320040" cy="320040"/>
          </a:xfrm>
          <a:prstGeom prst="rect">
            <a:avLst/>
          </a:prstGeom>
        </p:spPr>
      </p:pic>
      <p:sp>
        <p:nvSpPr>
          <p:cNvPr id="7" name="Text 4"/>
          <p:cNvSpPr/>
          <p:nvPr/>
        </p:nvSpPr>
        <p:spPr>
          <a:xfrm>
            <a:off x="914400" y="185623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Added Files</a:t>
            </a:r>
            <a:endParaRPr lang="en-US" sz="1400" dirty="0"/>
          </a:p>
        </p:txBody>
      </p:sp>
      <p:sp>
        <p:nvSpPr>
          <p:cNvPr id="8" name="Text 5"/>
          <p:cNvSpPr/>
          <p:nvPr/>
        </p:nvSpPr>
        <p:spPr>
          <a:xfrm>
            <a:off x="3291840" y="185623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New username migration plus local PyCharm project files were added.</a:t>
            </a:r>
            <a:endParaRPr lang="en-US" sz="1300" dirty="0"/>
          </a:p>
        </p:txBody>
      </p:sp>
      <p:sp>
        <p:nvSpPr>
          <p:cNvPr id="9" name="Shape 6"/>
          <p:cNvSpPr/>
          <p:nvPr/>
        </p:nvSpPr>
        <p:spPr>
          <a:xfrm>
            <a:off x="365760" y="2377440"/>
            <a:ext cx="8412480" cy="530352"/>
          </a:xfrm>
          <a:prstGeom prst="roundRect">
            <a:avLst>
              <a:gd name="adj" fmla="val 10345"/>
            </a:avLst>
          </a:prstGeom>
          <a:solidFill>
            <a:srgbClr val="14243E"/>
          </a:solidFill>
          <a:ln/>
        </p:spPr>
      </p:sp>
      <p:pic>
        <p:nvPicPr>
          <p:cNvPr id="10" name="Image 1" descr="preencoded.png"/>
          <p:cNvPicPr>
            <a:picLocks noChangeAspect="1"/>
          </p:cNvPicPr>
          <p:nvPr/>
        </p:nvPicPr>
        <p:blipFill>
          <a:blip r:embed="rId4"/>
          <a:stretch>
            <a:fillRect/>
          </a:stretch>
        </p:blipFill>
        <p:spPr>
          <a:xfrm>
            <a:off x="502920" y="2468880"/>
            <a:ext cx="320040" cy="320040"/>
          </a:xfrm>
          <a:prstGeom prst="rect">
            <a:avLst/>
          </a:prstGeom>
        </p:spPr>
      </p:pic>
      <p:sp>
        <p:nvSpPr>
          <p:cNvPr id="11" name="Text 7"/>
          <p:cNvSpPr/>
          <p:nvPr/>
        </p:nvSpPr>
        <p:spPr>
          <a:xfrm>
            <a:off x="914400" y="245059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Modified Files</a:t>
            </a:r>
            <a:endParaRPr lang="en-US" sz="1400" dirty="0"/>
          </a:p>
        </p:txBody>
      </p:sp>
      <p:sp>
        <p:nvSpPr>
          <p:cNvPr id="12" name="Text 8"/>
          <p:cNvSpPr/>
          <p:nvPr/>
        </p:nvSpPr>
        <p:spPr>
          <a:xfrm>
            <a:off x="3291840" y="245059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backend/settings.py added STATIC_ROOT; accounts/views.py received comments; db.sqlite3 received sample product data.</a:t>
            </a:r>
            <a:endParaRPr lang="en-US" sz="1300" dirty="0"/>
          </a:p>
        </p:txBody>
      </p:sp>
      <p:sp>
        <p:nvSpPr>
          <p:cNvPr id="13" name="Shape 9"/>
          <p:cNvSpPr/>
          <p:nvPr/>
        </p:nvSpPr>
        <p:spPr>
          <a:xfrm>
            <a:off x="365760" y="2971800"/>
            <a:ext cx="8412480" cy="530352"/>
          </a:xfrm>
          <a:prstGeom prst="roundRect">
            <a:avLst>
              <a:gd name="adj" fmla="val 10345"/>
            </a:avLst>
          </a:prstGeom>
          <a:solidFill>
            <a:srgbClr val="14243E"/>
          </a:solidFill>
          <a:ln/>
        </p:spPr>
      </p:sp>
      <p:pic>
        <p:nvPicPr>
          <p:cNvPr id="14" name="Image 2" descr="preencoded.png"/>
          <p:cNvPicPr>
            <a:picLocks noChangeAspect="1"/>
          </p:cNvPicPr>
          <p:nvPr/>
        </p:nvPicPr>
        <p:blipFill>
          <a:blip r:embed="rId5"/>
          <a:stretch>
            <a:fillRect/>
          </a:stretch>
        </p:blipFill>
        <p:spPr>
          <a:xfrm>
            <a:off x="502920" y="3063240"/>
            <a:ext cx="320040" cy="320040"/>
          </a:xfrm>
          <a:prstGeom prst="rect">
            <a:avLst/>
          </a:prstGeom>
        </p:spPr>
      </p:pic>
      <p:sp>
        <p:nvSpPr>
          <p:cNvPr id="15" name="Text 10"/>
          <p:cNvSpPr/>
          <p:nvPr/>
        </p:nvSpPr>
        <p:spPr>
          <a:xfrm>
            <a:off x="914400" y="304495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Removed Files</a:t>
            </a:r>
            <a:endParaRPr lang="en-US" sz="1400" dirty="0"/>
          </a:p>
        </p:txBody>
      </p:sp>
      <p:sp>
        <p:nvSpPr>
          <p:cNvPr id="16" name="Text 11"/>
          <p:cNvSpPr/>
          <p:nvPr/>
        </p:nvSpPr>
        <p:spPr>
          <a:xfrm>
            <a:off x="3291840" y="304495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No application source file was removed from Rahat’s latest backend.</a:t>
            </a:r>
            <a:endParaRPr lang="en-US" sz="1300" dirty="0"/>
          </a:p>
        </p:txBody>
      </p:sp>
      <p:sp>
        <p:nvSpPr>
          <p:cNvPr id="17" name="Shape 12"/>
          <p:cNvSpPr/>
          <p:nvPr/>
        </p:nvSpPr>
        <p:spPr>
          <a:xfrm>
            <a:off x="365760" y="3566160"/>
            <a:ext cx="8412480" cy="530352"/>
          </a:xfrm>
          <a:prstGeom prst="roundRect">
            <a:avLst>
              <a:gd name="adj" fmla="val 10345"/>
            </a:avLst>
          </a:prstGeom>
          <a:solidFill>
            <a:srgbClr val="14243E"/>
          </a:solidFill>
          <a:ln/>
        </p:spPr>
      </p:sp>
      <p:pic>
        <p:nvPicPr>
          <p:cNvPr id="18" name="Image 3" descr="preencoded.png"/>
          <p:cNvPicPr>
            <a:picLocks noChangeAspect="1"/>
          </p:cNvPicPr>
          <p:nvPr/>
        </p:nvPicPr>
        <p:blipFill>
          <a:blip r:embed="rId6"/>
          <a:stretch>
            <a:fillRect/>
          </a:stretch>
        </p:blipFill>
        <p:spPr>
          <a:xfrm>
            <a:off x="502920" y="3657600"/>
            <a:ext cx="320040" cy="320040"/>
          </a:xfrm>
          <a:prstGeom prst="rect">
            <a:avLst/>
          </a:prstGeom>
        </p:spPr>
      </p:pic>
      <p:sp>
        <p:nvSpPr>
          <p:cNvPr id="19" name="Text 13"/>
          <p:cNvSpPr/>
          <p:nvPr/>
        </p:nvSpPr>
        <p:spPr>
          <a:xfrm>
            <a:off x="914400" y="363931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Important Gap</a:t>
            </a:r>
            <a:endParaRPr lang="en-US" sz="1400" dirty="0"/>
          </a:p>
        </p:txBody>
      </p:sp>
      <p:sp>
        <p:nvSpPr>
          <p:cNvPr id="20" name="Text 14"/>
          <p:cNvSpPr/>
          <p:nvPr/>
        </p:nvSpPr>
        <p:spPr>
          <a:xfrm>
            <a:off x="3291840" y="363931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The backend still needed a real AI endpoint to answer the frontend chatbot request.</a:t>
            </a:r>
            <a:endParaRPr lang="en-US" sz="1300" dirty="0"/>
          </a:p>
        </p:txBody>
      </p:sp>
      <p:sp>
        <p:nvSpPr>
          <p:cNvPr id="21" name="Shape 15"/>
          <p:cNvSpPr/>
          <p:nvPr/>
        </p:nvSpPr>
        <p:spPr>
          <a:xfrm>
            <a:off x="365760" y="4160520"/>
            <a:ext cx="8412480" cy="530352"/>
          </a:xfrm>
          <a:prstGeom prst="roundRect">
            <a:avLst>
              <a:gd name="adj" fmla="val 10345"/>
            </a:avLst>
          </a:prstGeom>
          <a:solidFill>
            <a:srgbClr val="14243E"/>
          </a:solidFill>
          <a:ln/>
        </p:spPr>
      </p:sp>
      <p:pic>
        <p:nvPicPr>
          <p:cNvPr id="22" name="Image 4" descr="preencoded.png"/>
          <p:cNvPicPr>
            <a:picLocks noChangeAspect="1"/>
          </p:cNvPicPr>
          <p:nvPr/>
        </p:nvPicPr>
        <p:blipFill>
          <a:blip r:embed="rId7"/>
          <a:stretch>
            <a:fillRect/>
          </a:stretch>
        </p:blipFill>
        <p:spPr>
          <a:xfrm>
            <a:off x="502920" y="4251960"/>
            <a:ext cx="320040" cy="320040"/>
          </a:xfrm>
          <a:prstGeom prst="rect">
            <a:avLst/>
          </a:prstGeom>
        </p:spPr>
      </p:pic>
      <p:sp>
        <p:nvSpPr>
          <p:cNvPr id="23" name="Text 16"/>
          <p:cNvSpPr/>
          <p:nvPr/>
        </p:nvSpPr>
        <p:spPr>
          <a:xfrm>
            <a:off x="914400" y="4233672"/>
            <a:ext cx="2286000" cy="384048"/>
          </a:xfrm>
          <a:prstGeom prst="rect">
            <a:avLst/>
          </a:prstGeom>
          <a:noFill/>
          <a:ln/>
        </p:spPr>
        <p:txBody>
          <a:bodyPr wrap="square" lIns="0" tIns="0" rIns="0" bIns="0" rtlCol="0" anchor="ctr"/>
          <a:lstStyle/>
          <a:p>
            <a:pPr marL="0" indent="0">
              <a:buNone/>
            </a:pPr>
            <a:r>
              <a:rPr sz="1400" b="1">
                <a:solidFill>
                  <a:srgbClr val="2EE5BA"/>
                </a:solidFill>
                <a:latin typeface="Calibri"/>
              </a:rPr>
              <a:t>Baseline Decision</a:t>
            </a:r>
            <a:endParaRPr lang="en-US" sz="1400" dirty="0"/>
          </a:p>
        </p:txBody>
      </p:sp>
      <p:sp>
        <p:nvSpPr>
          <p:cNvPr id="24" name="Text 17"/>
          <p:cNvSpPr/>
          <p:nvPr/>
        </p:nvSpPr>
        <p:spPr>
          <a:xfrm>
            <a:off x="3291840" y="4233672"/>
            <a:ext cx="5303520" cy="384048"/>
          </a:xfrm>
          <a:prstGeom prst="rect">
            <a:avLst/>
          </a:prstGeom>
          <a:noFill/>
          <a:ln/>
        </p:spPr>
        <p:txBody>
          <a:bodyPr wrap="square" lIns="0" tIns="0" rIns="0" bIns="0" rtlCol="0" anchor="ctr"/>
          <a:lstStyle/>
          <a:p>
            <a:pPr marL="0" indent="0">
              <a:buNone/>
            </a:pPr>
            <a:r>
              <a:rPr sz="1300">
                <a:solidFill>
                  <a:srgbClr val="94A3B8"/>
                </a:solidFill>
                <a:latin typeface="Calibri"/>
              </a:rPr>
              <a:t>Rahat’s latest backend was kept as the base, then extended without overwriting his existing chat app.</a:t>
            </a:r>
            <a:endParaRPr lang="en-US" sz="1300" dirty="0"/>
          </a:p>
        </p:txBody>
      </p:sp>
      <p:sp>
        <p:nvSpPr>
          <p:cNvPr id="25"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6"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FARHAN UPDATE  •  CUSTOMER AI</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Customer Shopping Assistant Added</a:t>
            </a:r>
            <a:endParaRPr lang="en-US" sz="2600" dirty="0"/>
          </a:p>
        </p:txBody>
      </p:sp>
      <p:sp>
        <p:nvSpPr>
          <p:cNvPr id="4" name="Shape 2"/>
          <p:cNvSpPr/>
          <p:nvPr/>
        </p:nvSpPr>
        <p:spPr>
          <a:xfrm>
            <a:off x="365760" y="1280160"/>
            <a:ext cx="4206240" cy="1600200"/>
          </a:xfrm>
          <a:prstGeom prst="roundRect">
            <a:avLst>
              <a:gd name="adj" fmla="val 5714"/>
            </a:avLst>
          </a:prstGeom>
          <a:solidFill>
            <a:srgbClr val="14243E"/>
          </a:solidFill>
          <a:ln/>
        </p:spPr>
      </p:sp>
      <p:sp>
        <p:nvSpPr>
          <p:cNvPr id="5" name="Shape 3"/>
          <p:cNvSpPr/>
          <p:nvPr/>
        </p:nvSpPr>
        <p:spPr>
          <a:xfrm>
            <a:off x="365760" y="1280160"/>
            <a:ext cx="73152" cy="160020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48640" y="1417320"/>
            <a:ext cx="365760" cy="365760"/>
          </a:xfrm>
          <a:prstGeom prst="rect">
            <a:avLst/>
          </a:prstGeom>
        </p:spPr>
      </p:pic>
      <p:sp>
        <p:nvSpPr>
          <p:cNvPr id="7" name="Text 4"/>
          <p:cNvSpPr/>
          <p:nvPr/>
        </p:nvSpPr>
        <p:spPr>
          <a:xfrm>
            <a:off x="1005840" y="141732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New DRF Endpoint</a:t>
            </a:r>
            <a:endParaRPr lang="en-US" sz="1500" dirty="0"/>
          </a:p>
        </p:txBody>
      </p:sp>
      <p:sp>
        <p:nvSpPr>
          <p:cNvPr id="8" name="Text 5"/>
          <p:cNvSpPr/>
          <p:nvPr/>
        </p:nvSpPr>
        <p:spPr>
          <a:xfrm>
            <a:off x="548640" y="187452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POST /api/ai/chat/ receives customer messages from React, validates input and returns an AI reply using Django REST Framework Response.</a:t>
            </a:r>
            <a:endParaRPr lang="en-US" sz="1200" dirty="0"/>
          </a:p>
        </p:txBody>
      </p:sp>
      <p:sp>
        <p:nvSpPr>
          <p:cNvPr id="9" name="Shape 6"/>
          <p:cNvSpPr/>
          <p:nvPr/>
        </p:nvSpPr>
        <p:spPr>
          <a:xfrm>
            <a:off x="4754880" y="1280160"/>
            <a:ext cx="4206240" cy="1600200"/>
          </a:xfrm>
          <a:prstGeom prst="roundRect">
            <a:avLst>
              <a:gd name="adj" fmla="val 5714"/>
            </a:avLst>
          </a:prstGeom>
          <a:solidFill>
            <a:srgbClr val="14243E"/>
          </a:solidFill>
          <a:ln/>
        </p:spPr>
      </p:sp>
      <p:sp>
        <p:nvSpPr>
          <p:cNvPr id="10" name="Shape 7"/>
          <p:cNvSpPr/>
          <p:nvPr/>
        </p:nvSpPr>
        <p:spPr>
          <a:xfrm>
            <a:off x="4754880" y="1280160"/>
            <a:ext cx="73152" cy="1600200"/>
          </a:xfrm>
          <a:prstGeom prst="rect">
            <a:avLst/>
          </a:prstGeom>
          <a:solidFill>
            <a:srgbClr val="2EE5BA"/>
          </a:solidFill>
          <a:ln/>
        </p:spPr>
      </p:sp>
      <p:pic>
        <p:nvPicPr>
          <p:cNvPr id="11" name="Image 1" descr="preencoded.png"/>
          <p:cNvPicPr>
            <a:picLocks noChangeAspect="1"/>
          </p:cNvPicPr>
          <p:nvPr/>
        </p:nvPicPr>
        <p:blipFill>
          <a:blip r:embed="rId4"/>
          <a:stretch>
            <a:fillRect/>
          </a:stretch>
        </p:blipFill>
        <p:spPr>
          <a:xfrm>
            <a:off x="4937760" y="1417320"/>
            <a:ext cx="365760" cy="365760"/>
          </a:xfrm>
          <a:prstGeom prst="rect">
            <a:avLst/>
          </a:prstGeom>
        </p:spPr>
      </p:pic>
      <p:sp>
        <p:nvSpPr>
          <p:cNvPr id="12" name="Text 8"/>
          <p:cNvSpPr/>
          <p:nvPr/>
        </p:nvSpPr>
        <p:spPr>
          <a:xfrm>
            <a:off x="5394960" y="141732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Product-Aware Replies</a:t>
            </a:r>
            <a:endParaRPr lang="en-US" sz="1500" dirty="0"/>
          </a:p>
        </p:txBody>
      </p:sp>
      <p:sp>
        <p:nvSpPr>
          <p:cNvPr id="13" name="Text 9"/>
          <p:cNvSpPr/>
          <p:nvPr/>
        </p:nvSpPr>
        <p:spPr>
          <a:xfrm>
            <a:off x="4937760" y="187452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Before answering, Django reads active products from SQLite and sends product name, category, price, stock and description to the model.</a:t>
            </a:r>
            <a:endParaRPr lang="en-US" sz="1200" dirty="0"/>
          </a:p>
        </p:txBody>
      </p:sp>
      <p:sp>
        <p:nvSpPr>
          <p:cNvPr id="14" name="Shape 10"/>
          <p:cNvSpPr/>
          <p:nvPr/>
        </p:nvSpPr>
        <p:spPr>
          <a:xfrm>
            <a:off x="365760" y="3017520"/>
            <a:ext cx="4206240" cy="1600200"/>
          </a:xfrm>
          <a:prstGeom prst="roundRect">
            <a:avLst>
              <a:gd name="adj" fmla="val 5714"/>
            </a:avLst>
          </a:prstGeom>
          <a:solidFill>
            <a:srgbClr val="14243E"/>
          </a:solidFill>
          <a:ln/>
        </p:spPr>
      </p:sp>
      <p:sp>
        <p:nvSpPr>
          <p:cNvPr id="15" name="Shape 11"/>
          <p:cNvSpPr/>
          <p:nvPr/>
        </p:nvSpPr>
        <p:spPr>
          <a:xfrm>
            <a:off x="365760" y="3017520"/>
            <a:ext cx="73152" cy="1600200"/>
          </a:xfrm>
          <a:prstGeom prst="rect">
            <a:avLst/>
          </a:prstGeom>
          <a:solidFill>
            <a:srgbClr val="2EE5BA"/>
          </a:solidFill>
          <a:ln/>
        </p:spPr>
      </p:sp>
      <p:pic>
        <p:nvPicPr>
          <p:cNvPr id="16" name="Image 2" descr="preencoded.png"/>
          <p:cNvPicPr>
            <a:picLocks noChangeAspect="1"/>
          </p:cNvPicPr>
          <p:nvPr/>
        </p:nvPicPr>
        <p:blipFill>
          <a:blip r:embed="rId5"/>
          <a:stretch>
            <a:fillRect/>
          </a:stretch>
        </p:blipFill>
        <p:spPr>
          <a:xfrm>
            <a:off x="548640" y="3154680"/>
            <a:ext cx="365760" cy="365760"/>
          </a:xfrm>
          <a:prstGeom prst="rect">
            <a:avLst/>
          </a:prstGeom>
        </p:spPr>
      </p:pic>
      <p:sp>
        <p:nvSpPr>
          <p:cNvPr id="17" name="Text 12"/>
          <p:cNvSpPr/>
          <p:nvPr/>
        </p:nvSpPr>
        <p:spPr>
          <a:xfrm>
            <a:off x="1005840" y="315468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Safe Customer Scope</a:t>
            </a:r>
            <a:endParaRPr lang="en-US" sz="1500" dirty="0"/>
          </a:p>
        </p:txBody>
      </p:sp>
      <p:sp>
        <p:nvSpPr>
          <p:cNvPr id="18" name="Text 13"/>
          <p:cNvSpPr/>
          <p:nvPr/>
        </p:nvSpPr>
        <p:spPr>
          <a:xfrm>
            <a:off x="548640" y="361188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The customer chatbot can answer product and shopping questions, but it cannot access customer accounts, payments or private order data.</a:t>
            </a:r>
            <a:endParaRPr lang="en-US" sz="1200" dirty="0"/>
          </a:p>
        </p:txBody>
      </p:sp>
      <p:sp>
        <p:nvSpPr>
          <p:cNvPr id="19" name="Shape 14"/>
          <p:cNvSpPr/>
          <p:nvPr/>
        </p:nvSpPr>
        <p:spPr>
          <a:xfrm>
            <a:off x="4754880" y="3017520"/>
            <a:ext cx="4206240" cy="1600200"/>
          </a:xfrm>
          <a:prstGeom prst="roundRect">
            <a:avLst>
              <a:gd name="adj" fmla="val 5714"/>
            </a:avLst>
          </a:prstGeom>
          <a:solidFill>
            <a:srgbClr val="14243E"/>
          </a:solidFill>
          <a:ln/>
        </p:spPr>
      </p:sp>
      <p:sp>
        <p:nvSpPr>
          <p:cNvPr id="20" name="Shape 15"/>
          <p:cNvSpPr/>
          <p:nvPr/>
        </p:nvSpPr>
        <p:spPr>
          <a:xfrm>
            <a:off x="4754880" y="3017520"/>
            <a:ext cx="73152" cy="1600200"/>
          </a:xfrm>
          <a:prstGeom prst="rect">
            <a:avLst/>
          </a:prstGeom>
          <a:solidFill>
            <a:srgbClr val="2EE5BA"/>
          </a:solidFill>
          <a:ln/>
        </p:spPr>
      </p:sp>
      <p:pic>
        <p:nvPicPr>
          <p:cNvPr id="21" name="Image 3" descr="preencoded.png"/>
          <p:cNvPicPr>
            <a:picLocks noChangeAspect="1"/>
          </p:cNvPicPr>
          <p:nvPr/>
        </p:nvPicPr>
        <p:blipFill>
          <a:blip r:embed="rId6"/>
          <a:stretch>
            <a:fillRect/>
          </a:stretch>
        </p:blipFill>
        <p:spPr>
          <a:xfrm>
            <a:off x="4937760" y="3154680"/>
            <a:ext cx="365760" cy="365760"/>
          </a:xfrm>
          <a:prstGeom prst="rect">
            <a:avLst/>
          </a:prstGeom>
        </p:spPr>
      </p:pic>
      <p:sp>
        <p:nvSpPr>
          <p:cNvPr id="22" name="Text 16"/>
          <p:cNvSpPr/>
          <p:nvPr/>
        </p:nvSpPr>
        <p:spPr>
          <a:xfrm>
            <a:off x="5394960" y="3154680"/>
            <a:ext cx="3383280" cy="365760"/>
          </a:xfrm>
          <a:prstGeom prst="rect">
            <a:avLst/>
          </a:prstGeom>
          <a:noFill/>
          <a:ln/>
        </p:spPr>
        <p:txBody>
          <a:bodyPr wrap="square" lIns="0" tIns="0" rIns="0" bIns="0" rtlCol="0" anchor="ctr"/>
          <a:lstStyle/>
          <a:p>
            <a:pPr marL="0" indent="0">
              <a:buNone/>
            </a:pPr>
            <a:r>
              <a:rPr sz="1500" b="1">
                <a:solidFill>
                  <a:srgbClr val="FFFFFF"/>
                </a:solidFill>
                <a:latin typeface="Calibri"/>
              </a:rPr>
              <a:t>Frontend Improvement</a:t>
            </a:r>
            <a:endParaRPr lang="en-US" sz="1500" dirty="0"/>
          </a:p>
        </p:txBody>
      </p:sp>
      <p:sp>
        <p:nvSpPr>
          <p:cNvPr id="23" name="Text 17"/>
          <p:cNvSpPr/>
          <p:nvPr/>
        </p:nvSpPr>
        <p:spPr>
          <a:xfrm>
            <a:off x="4937760" y="3611880"/>
            <a:ext cx="3840480" cy="914400"/>
          </a:xfrm>
          <a:prstGeom prst="rect">
            <a:avLst/>
          </a:prstGeom>
          <a:noFill/>
          <a:ln/>
        </p:spPr>
        <p:txBody>
          <a:bodyPr wrap="square" lIns="0" tIns="0" rIns="0" bIns="0" rtlCol="0" anchor="t"/>
          <a:lstStyle/>
          <a:p>
            <a:pPr marL="0" indent="0">
              <a:buNone/>
            </a:pPr>
            <a:r>
              <a:rPr sz="1400">
                <a:solidFill>
                  <a:srgbClr val="94A3B8"/>
                </a:solidFill>
                <a:latin typeface="Calibri"/>
              </a:rPr>
              <a:t>Chat.jsx now shows loading state, disables repeated sends, handles failed responses and displays multi-line AI replies cleanly.</a:t>
            </a:r>
            <a:endParaRPr lang="en-US" sz="1200" dirty="0"/>
          </a:p>
        </p:txBody>
      </p:sp>
      <p:sp>
        <p:nvSpPr>
          <p:cNvPr id="24"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5"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FARHAN UPDATE  •  ADMIN AI</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Protected Admin Business Assistant Added</a:t>
            </a:r>
            <a:endParaRPr lang="en-US" sz="2600" dirty="0"/>
          </a:p>
        </p:txBody>
      </p:sp>
      <p:sp>
        <p:nvSpPr>
          <p:cNvPr id="4" name="Shape 2"/>
          <p:cNvSpPr/>
          <p:nvPr/>
        </p:nvSpPr>
        <p:spPr>
          <a:xfrm>
            <a:off x="365760" y="128016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5" name="Shape 3"/>
          <p:cNvSpPr/>
          <p:nvPr/>
        </p:nvSpPr>
        <p:spPr>
          <a:xfrm>
            <a:off x="365760" y="1280160"/>
            <a:ext cx="54864" cy="1600200"/>
          </a:xfrm>
          <a:prstGeom prst="rect">
            <a:avLst/>
          </a:prstGeom>
          <a:solidFill>
            <a:srgbClr val="2EE5BA"/>
          </a:solidFill>
          <a:ln/>
        </p:spPr>
      </p:sp>
      <p:pic>
        <p:nvPicPr>
          <p:cNvPr id="6" name="Image 0" descr="preencoded.png"/>
          <p:cNvPicPr>
            <a:picLocks noChangeAspect="1"/>
          </p:cNvPicPr>
          <p:nvPr/>
        </p:nvPicPr>
        <p:blipFill>
          <a:blip r:embed="rId3"/>
          <a:stretch>
            <a:fillRect/>
          </a:stretch>
        </p:blipFill>
        <p:spPr>
          <a:xfrm>
            <a:off x="548640" y="1417320"/>
            <a:ext cx="365760" cy="365760"/>
          </a:xfrm>
          <a:prstGeom prst="rect">
            <a:avLst/>
          </a:prstGeom>
        </p:spPr>
      </p:pic>
      <p:sp>
        <p:nvSpPr>
          <p:cNvPr id="7" name="Text 4"/>
          <p:cNvSpPr/>
          <p:nvPr/>
        </p:nvSpPr>
        <p:spPr>
          <a:xfrm>
            <a:off x="1005840" y="138988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Admin Endpoint</a:t>
            </a:r>
            <a:endParaRPr lang="en-US" sz="1300" dirty="0"/>
          </a:p>
        </p:txBody>
      </p:sp>
      <p:sp>
        <p:nvSpPr>
          <p:cNvPr id="8" name="Text 5"/>
          <p:cNvSpPr/>
          <p:nvPr/>
        </p:nvSpPr>
        <p:spPr>
          <a:xfrm>
            <a:off x="548640" y="178308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POST /api/ai/admin-chat/ was added inside the same chatbot app, using the same phi3:mini model with a different admin instruction prompt.</a:t>
            </a:r>
            <a:endParaRPr lang="en-US" sz="1100" dirty="0"/>
          </a:p>
        </p:txBody>
      </p:sp>
      <p:sp>
        <p:nvSpPr>
          <p:cNvPr id="9" name="Shape 6"/>
          <p:cNvSpPr/>
          <p:nvPr/>
        </p:nvSpPr>
        <p:spPr>
          <a:xfrm>
            <a:off x="4754880" y="128016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10" name="Shape 7"/>
          <p:cNvSpPr/>
          <p:nvPr/>
        </p:nvSpPr>
        <p:spPr>
          <a:xfrm>
            <a:off x="4754880" y="1280160"/>
            <a:ext cx="54864" cy="1600200"/>
          </a:xfrm>
          <a:prstGeom prst="rect">
            <a:avLst/>
          </a:prstGeom>
          <a:solidFill>
            <a:srgbClr val="2EE5BA"/>
          </a:solidFill>
          <a:ln/>
        </p:spPr>
      </p:sp>
      <p:pic>
        <p:nvPicPr>
          <p:cNvPr id="11" name="Image 1" descr="preencoded.png"/>
          <p:cNvPicPr>
            <a:picLocks noChangeAspect="1"/>
          </p:cNvPicPr>
          <p:nvPr/>
        </p:nvPicPr>
        <p:blipFill>
          <a:blip r:embed="rId4"/>
          <a:stretch>
            <a:fillRect/>
          </a:stretch>
        </p:blipFill>
        <p:spPr>
          <a:xfrm>
            <a:off x="4937760" y="1417320"/>
            <a:ext cx="365760" cy="365760"/>
          </a:xfrm>
          <a:prstGeom prst="rect">
            <a:avLst/>
          </a:prstGeom>
        </p:spPr>
      </p:pic>
      <p:sp>
        <p:nvSpPr>
          <p:cNvPr id="12" name="Text 8"/>
          <p:cNvSpPr/>
          <p:nvPr/>
        </p:nvSpPr>
        <p:spPr>
          <a:xfrm>
            <a:off x="5394960" y="138988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Access Control</a:t>
            </a:r>
            <a:endParaRPr lang="en-US" sz="1300" dirty="0"/>
          </a:p>
        </p:txBody>
      </p:sp>
      <p:sp>
        <p:nvSpPr>
          <p:cNvPr id="13" name="Text 9"/>
          <p:cNvSpPr/>
          <p:nvPr/>
        </p:nvSpPr>
        <p:spPr>
          <a:xfrm>
            <a:off x="4937760" y="178308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The endpoint requires a valid JWT token and Django staff/superuser permission. Normal customer accounts are denied access.</a:t>
            </a:r>
            <a:endParaRPr lang="en-US" sz="1100" dirty="0"/>
          </a:p>
        </p:txBody>
      </p:sp>
      <p:sp>
        <p:nvSpPr>
          <p:cNvPr id="14" name="Shape 10"/>
          <p:cNvSpPr/>
          <p:nvPr/>
        </p:nvSpPr>
        <p:spPr>
          <a:xfrm>
            <a:off x="365760" y="301752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15" name="Shape 11"/>
          <p:cNvSpPr/>
          <p:nvPr/>
        </p:nvSpPr>
        <p:spPr>
          <a:xfrm>
            <a:off x="365760" y="3017520"/>
            <a:ext cx="54864" cy="1600200"/>
          </a:xfrm>
          <a:prstGeom prst="rect">
            <a:avLst/>
          </a:prstGeom>
          <a:solidFill>
            <a:srgbClr val="2EE5BA"/>
          </a:solidFill>
          <a:ln/>
        </p:spPr>
      </p:sp>
      <p:pic>
        <p:nvPicPr>
          <p:cNvPr id="16" name="Image 2" descr="preencoded.png"/>
          <p:cNvPicPr>
            <a:picLocks noChangeAspect="1"/>
          </p:cNvPicPr>
          <p:nvPr/>
        </p:nvPicPr>
        <p:blipFill>
          <a:blip r:embed="rId5"/>
          <a:stretch>
            <a:fillRect/>
          </a:stretch>
        </p:blipFill>
        <p:spPr>
          <a:xfrm>
            <a:off x="548640" y="3154680"/>
            <a:ext cx="365760" cy="365760"/>
          </a:xfrm>
          <a:prstGeom prst="rect">
            <a:avLst/>
          </a:prstGeom>
        </p:spPr>
      </p:pic>
      <p:sp>
        <p:nvSpPr>
          <p:cNvPr id="17" name="Text 12"/>
          <p:cNvSpPr/>
          <p:nvPr/>
        </p:nvSpPr>
        <p:spPr>
          <a:xfrm>
            <a:off x="100584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Database Insight</a:t>
            </a:r>
            <a:endParaRPr lang="en-US" sz="1300" dirty="0"/>
          </a:p>
        </p:txBody>
      </p:sp>
      <p:sp>
        <p:nvSpPr>
          <p:cNvPr id="18" name="Text 13"/>
          <p:cNvSpPr/>
          <p:nvPr/>
        </p:nvSpPr>
        <p:spPr>
          <a:xfrm>
            <a:off x="548640" y="352044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The admin bot receives a read-only snapshot of products, categories, stock, users, orders, order status counts, latest orders and top sellers.</a:t>
            </a:r>
            <a:endParaRPr lang="en-US" sz="1100" dirty="0"/>
          </a:p>
        </p:txBody>
      </p:sp>
      <p:sp>
        <p:nvSpPr>
          <p:cNvPr id="19" name="Shape 14"/>
          <p:cNvSpPr/>
          <p:nvPr/>
        </p:nvSpPr>
        <p:spPr>
          <a:xfrm>
            <a:off x="4754880" y="3017520"/>
            <a:ext cx="4206240" cy="1600200"/>
          </a:xfrm>
          <a:prstGeom prst="roundRect">
            <a:avLst>
              <a:gd name="adj" fmla="val 4571"/>
            </a:avLst>
          </a:prstGeom>
          <a:solidFill>
            <a:srgbClr val="14243E"/>
          </a:solidFill>
          <a:ln/>
          <a:effectLst>
            <a:outerShdw blurRad="76200" dist="25400" dir="5400000" algn="bl" rotWithShape="0">
              <a:srgbClr val="000000">
                <a:alpha val="20000"/>
              </a:srgbClr>
            </a:outerShdw>
          </a:effectLst>
        </p:spPr>
      </p:sp>
      <p:sp>
        <p:nvSpPr>
          <p:cNvPr id="20" name="Shape 15"/>
          <p:cNvSpPr/>
          <p:nvPr/>
        </p:nvSpPr>
        <p:spPr>
          <a:xfrm>
            <a:off x="4754880" y="3017520"/>
            <a:ext cx="54864" cy="1600200"/>
          </a:xfrm>
          <a:prstGeom prst="rect">
            <a:avLst/>
          </a:prstGeom>
          <a:solidFill>
            <a:srgbClr val="2EE5BA"/>
          </a:solidFill>
          <a:ln/>
        </p:spPr>
      </p:sp>
      <p:pic>
        <p:nvPicPr>
          <p:cNvPr id="21" name="Image 3" descr="preencoded.png"/>
          <p:cNvPicPr>
            <a:picLocks noChangeAspect="1"/>
          </p:cNvPicPr>
          <p:nvPr/>
        </p:nvPicPr>
        <p:blipFill>
          <a:blip r:embed="rId6"/>
          <a:stretch>
            <a:fillRect/>
          </a:stretch>
        </p:blipFill>
        <p:spPr>
          <a:xfrm>
            <a:off x="4937760" y="3154680"/>
            <a:ext cx="365760" cy="365760"/>
          </a:xfrm>
          <a:prstGeom prst="rect">
            <a:avLst/>
          </a:prstGeom>
        </p:spPr>
      </p:pic>
      <p:sp>
        <p:nvSpPr>
          <p:cNvPr id="22" name="Text 16"/>
          <p:cNvSpPr/>
          <p:nvPr/>
        </p:nvSpPr>
        <p:spPr>
          <a:xfrm>
            <a:off x="5394960" y="3127248"/>
            <a:ext cx="3383280" cy="320040"/>
          </a:xfrm>
          <a:prstGeom prst="rect">
            <a:avLst/>
          </a:prstGeom>
          <a:noFill/>
          <a:ln/>
        </p:spPr>
        <p:txBody>
          <a:bodyPr wrap="square" lIns="0" tIns="0" rIns="0" bIns="0" rtlCol="0" anchor="ctr"/>
          <a:lstStyle/>
          <a:p>
            <a:pPr marL="0" indent="0">
              <a:buNone/>
            </a:pPr>
            <a:r>
              <a:rPr sz="1300" b="1">
                <a:solidFill>
                  <a:srgbClr val="FFFFFF"/>
                </a:solidFill>
                <a:latin typeface="Calibri"/>
              </a:rPr>
              <a:t>Frontend Page</a:t>
            </a:r>
            <a:endParaRPr lang="en-US" sz="1300" dirty="0"/>
          </a:p>
        </p:txBody>
      </p:sp>
      <p:sp>
        <p:nvSpPr>
          <p:cNvPr id="23" name="Text 17"/>
          <p:cNvSpPr/>
          <p:nvPr/>
        </p:nvSpPr>
        <p:spPr>
          <a:xfrm>
            <a:off x="4937760" y="3520440"/>
            <a:ext cx="3840480" cy="960120"/>
          </a:xfrm>
          <a:prstGeom prst="rect">
            <a:avLst/>
          </a:prstGeom>
          <a:noFill/>
          <a:ln/>
        </p:spPr>
        <p:txBody>
          <a:bodyPr wrap="square" lIns="0" tIns="0" rIns="0" bIns="0" rtlCol="0" anchor="t"/>
          <a:lstStyle/>
          <a:p>
            <a:pPr marL="0" indent="0">
              <a:buNone/>
            </a:pPr>
            <a:r>
              <a:rPr sz="1400">
                <a:solidFill>
                  <a:srgbClr val="94A3B8"/>
                </a:solidFill>
                <a:latin typeface="Calibri"/>
              </a:rPr>
              <a:t>AdminChat.jsx and /admin-chat route were added with quick question buttons and clear login or access-denied messages.</a:t>
            </a:r>
            <a:endParaRPr lang="en-US" sz="1100" dirty="0"/>
          </a:p>
        </p:txBody>
      </p:sp>
      <p:sp>
        <p:nvSpPr>
          <p:cNvPr id="24" name="Text 18"/>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25" name="Text 19"/>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5"/>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marL="0" indent="0">
              <a:buNone/>
            </a:pPr>
            <a:r>
              <a:rPr sz="1100" b="1">
                <a:solidFill>
                  <a:srgbClr val="2EE5BA"/>
                </a:solidFill>
                <a:latin typeface="Calibri"/>
              </a:rPr>
              <a:t>FINAL INTEGRATION  •  TESTING</a:t>
            </a:r>
            <a:endParaRPr lang="en-US" sz="1100" dirty="0"/>
          </a:p>
        </p:txBody>
      </p:sp>
      <p:sp>
        <p:nvSpPr>
          <p:cNvPr id="3" name="Text 1"/>
          <p:cNvSpPr/>
          <p:nvPr/>
        </p:nvSpPr>
        <p:spPr>
          <a:xfrm>
            <a:off x="365760" y="502920"/>
            <a:ext cx="8412480" cy="640080"/>
          </a:xfrm>
          <a:prstGeom prst="rect">
            <a:avLst/>
          </a:prstGeom>
          <a:noFill/>
          <a:ln/>
        </p:spPr>
        <p:txBody>
          <a:bodyPr wrap="square" lIns="0" tIns="0" rIns="0" bIns="0" rtlCol="0" anchor="ctr"/>
          <a:lstStyle/>
          <a:p>
            <a:pPr marL="0" indent="0">
              <a:buNone/>
            </a:pPr>
            <a:r>
              <a:rPr sz="2600" b="1">
                <a:solidFill>
                  <a:srgbClr val="FFFFFF"/>
                </a:solidFill>
                <a:latin typeface="Calibri"/>
              </a:rPr>
              <a:t>Working System Flow &amp; Demo Status</a:t>
            </a:r>
            <a:endParaRPr lang="en-US" sz="2600" dirty="0"/>
          </a:p>
        </p:txBody>
      </p:sp>
      <p:sp>
        <p:nvSpPr>
          <p:cNvPr id="4" name="Shape 2"/>
          <p:cNvSpPr/>
          <p:nvPr/>
        </p:nvSpPr>
        <p:spPr>
          <a:xfrm>
            <a:off x="365760" y="1234440"/>
            <a:ext cx="8412480" cy="1463040"/>
          </a:xfrm>
          <a:prstGeom prst="roundRect">
            <a:avLst>
              <a:gd name="adj" fmla="val 6250"/>
            </a:avLst>
          </a:prstGeom>
          <a:solidFill>
            <a:srgbClr val="14243E"/>
          </a:solidFill>
          <a:ln/>
        </p:spPr>
      </p:sp>
      <p:sp>
        <p:nvSpPr>
          <p:cNvPr id="5" name="Text 3"/>
          <p:cNvSpPr/>
          <p:nvPr/>
        </p:nvSpPr>
        <p:spPr>
          <a:xfrm>
            <a:off x="548640" y="1371600"/>
            <a:ext cx="8046720" cy="1188720"/>
          </a:xfrm>
          <a:prstGeom prst="rect">
            <a:avLst/>
          </a:prstGeom>
          <a:noFill/>
          <a:ln/>
        </p:spPr>
        <p:txBody>
          <a:bodyPr wrap="square" lIns="0" tIns="0" rIns="0" bIns="0" rtlCol="0" anchor="ctr"/>
          <a:lstStyle/>
          <a:p>
            <a:pPr marL="0" indent="0">
              <a:buNone/>
            </a:pPr>
            <a:r>
              <a:rPr sz="1600">
                <a:solidFill>
                  <a:srgbClr val="94A3B8"/>
                </a:solidFill>
                <a:latin typeface="Calibri"/>
              </a:rPr>
              <a:t>The final update connects Shakib’s React frontend, Rahat’s Django backend and local Ollama model through two separate DRF chatbot endpoints. Both chatbots were tested from the browser and backend API level.</a:t>
            </a:r>
            <a:endParaRPr lang="en-US" sz="1400" dirty="0"/>
          </a:p>
        </p:txBody>
      </p:sp>
      <p:sp>
        <p:nvSpPr>
          <p:cNvPr id="6" name="Text 4"/>
          <p:cNvSpPr/>
          <p:nvPr/>
        </p:nvSpPr>
        <p:spPr>
          <a:xfrm>
            <a:off x="548640" y="2834640"/>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1.  Customer chatbot works from /chat with live product data</a:t>
            </a:r>
            <a:endParaRPr lang="en-US" sz="1400" dirty="0"/>
          </a:p>
        </p:txBody>
      </p:sp>
      <p:sp>
        <p:nvSpPr>
          <p:cNvPr id="7" name="Text 5"/>
          <p:cNvSpPr/>
          <p:nvPr/>
        </p:nvSpPr>
        <p:spPr>
          <a:xfrm>
            <a:off x="548640" y="3218688"/>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2.  Admin chatbot works from /admin-chat after admin login</a:t>
            </a:r>
            <a:endParaRPr lang="en-US" sz="1400" dirty="0"/>
          </a:p>
        </p:txBody>
      </p:sp>
      <p:sp>
        <p:nvSpPr>
          <p:cNvPr id="8" name="Text 6"/>
          <p:cNvSpPr/>
          <p:nvPr/>
        </p:nvSpPr>
        <p:spPr>
          <a:xfrm>
            <a:off x="548640" y="3602736"/>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3.  Non-admin access to admin chatbot is blocked</a:t>
            </a:r>
            <a:endParaRPr lang="en-US" sz="1400" dirty="0"/>
          </a:p>
        </p:txBody>
      </p:sp>
      <p:sp>
        <p:nvSpPr>
          <p:cNvPr id="9" name="Text 7"/>
          <p:cNvSpPr/>
          <p:nvPr/>
        </p:nvSpPr>
        <p:spPr>
          <a:xfrm>
            <a:off x="548640" y="3986784"/>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4.  Start-BestCommerce.bat launches backend and frontend together</a:t>
            </a:r>
            <a:endParaRPr lang="en-US" sz="1400" dirty="0"/>
          </a:p>
        </p:txBody>
      </p:sp>
      <p:sp>
        <p:nvSpPr>
          <p:cNvPr id="10" name="Text 8"/>
          <p:cNvSpPr/>
          <p:nvPr/>
        </p:nvSpPr>
        <p:spPr>
          <a:xfrm>
            <a:off x="548640" y="4370832"/>
            <a:ext cx="8046720" cy="365760"/>
          </a:xfrm>
          <a:prstGeom prst="rect">
            <a:avLst/>
          </a:prstGeom>
          <a:noFill/>
          <a:ln/>
        </p:spPr>
        <p:txBody>
          <a:bodyPr wrap="square" lIns="0" tIns="0" rIns="0" bIns="0" rtlCol="0" anchor="ctr"/>
          <a:lstStyle/>
          <a:p>
            <a:pPr marL="0" indent="0">
              <a:buNone/>
            </a:pPr>
            <a:r>
              <a:rPr sz="1400">
                <a:solidFill>
                  <a:srgbClr val="FFFFFF"/>
                </a:solidFill>
                <a:latin typeface="Calibri"/>
              </a:rPr>
              <a:t>5.  FarhanRafid branch updated with latest frontend, backend and documentation</a:t>
            </a:r>
            <a:endParaRPr lang="en-US" sz="1400" dirty="0"/>
          </a:p>
        </p:txBody>
      </p:sp>
      <p:sp>
        <p:nvSpPr>
          <p:cNvPr id="11" name="Text 9"/>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12" name="Text 10"/>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EE5BA"/>
          </a:solidFill>
          <a:ln/>
        </p:spPr>
      </p:sp>
      <p:sp>
        <p:nvSpPr>
          <p:cNvPr id="4" name="Text 2"/>
          <p:cNvSpPr/>
          <p:nvPr/>
        </p:nvSpPr>
        <p:spPr>
          <a:xfrm>
            <a:off x="365760" y="2468880"/>
            <a:ext cx="8412480" cy="457200"/>
          </a:xfrm>
          <a:prstGeom prst="rect">
            <a:avLst/>
          </a:prstGeom>
          <a:noFill/>
          <a:ln/>
        </p:spPr>
        <p:txBody>
          <a:bodyPr wrap="square" lIns="0" tIns="0" rIns="0" bIns="0" rtlCol="0" anchor="ctr"/>
          <a:lstStyle/>
          <a:p>
            <a:pPr marL="0" indent="0" algn="ctr">
              <a:buNone/>
            </a:pPr>
            <a:r>
              <a:rPr lang="en-US" sz="2200" dirty="0">
                <a:solidFill>
                  <a:srgbClr val="2EE5BA"/>
                </a:solidFill>
                <a:latin typeface="Calibri"/>
              </a:rPr>
              <a:t>Video</a:t>
            </a:r>
            <a:endParaRPr lang="en-US" sz="2200" dirty="0"/>
          </a:p>
        </p:txBody>
      </p:sp>
      <p:sp>
        <p:nvSpPr>
          <p:cNvPr id="5" name="Shape 3"/>
          <p:cNvSpPr/>
          <p:nvPr/>
        </p:nvSpPr>
        <p:spPr>
          <a:xfrm>
            <a:off x="3657600" y="3063240"/>
            <a:ext cx="1828800" cy="0"/>
          </a:xfrm>
          <a:prstGeom prst="line">
            <a:avLst/>
          </a:prstGeom>
          <a:noFill/>
          <a:ln w="25400">
            <a:solidFill>
              <a:srgbClr val="2EE5BA"/>
            </a:solidFill>
            <a:prstDash val="solid"/>
          </a:ln>
        </p:spPr>
      </p:sp>
      <p:sp>
        <p:nvSpPr>
          <p:cNvPr id="7" name="Text 5"/>
          <p:cNvSpPr/>
          <p:nvPr/>
        </p:nvSpPr>
        <p:spPr>
          <a:xfrm>
            <a:off x="365760" y="4114800"/>
            <a:ext cx="8412480" cy="274320"/>
          </a:xfrm>
          <a:prstGeom prst="rect">
            <a:avLst/>
          </a:prstGeom>
          <a:noFill/>
          <a:ln/>
        </p:spPr>
        <p:txBody>
          <a:bodyPr wrap="square" lIns="0" tIns="0" rIns="0" bIns="0" rtlCol="0" anchor="ctr"/>
          <a:lstStyle/>
          <a:p>
            <a:pPr marL="0" indent="0" algn="ctr">
              <a:buNone/>
            </a:pPr>
            <a:r>
              <a:rPr sz="1200" dirty="0">
                <a:solidFill>
                  <a:srgbClr val="64748B"/>
                </a:solidFill>
                <a:latin typeface="Calibri"/>
              </a:rPr>
              <a:t>Group 1  •  CSE 299  •  North South University</a:t>
            </a:r>
            <a:endParaRPr lang="en-US" sz="1200" dirty="0"/>
          </a:p>
        </p:txBody>
      </p:sp>
      <p:sp>
        <p:nvSpPr>
          <p:cNvPr id="8" name="Text 6"/>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9" name="Text 7"/>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E3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EE5BA"/>
          </a:solidFill>
          <a:ln/>
        </p:spPr>
      </p:sp>
      <p:sp>
        <p:nvSpPr>
          <p:cNvPr id="3" name="Text 1"/>
          <p:cNvSpPr/>
          <p:nvPr/>
        </p:nvSpPr>
        <p:spPr>
          <a:xfrm>
            <a:off x="365760" y="1645920"/>
            <a:ext cx="8412480" cy="731520"/>
          </a:xfrm>
          <a:prstGeom prst="rect">
            <a:avLst/>
          </a:prstGeom>
          <a:noFill/>
          <a:ln/>
        </p:spPr>
        <p:txBody>
          <a:bodyPr wrap="square" lIns="0" tIns="0" rIns="0" bIns="0" rtlCol="0" anchor="ctr"/>
          <a:lstStyle/>
          <a:p>
            <a:pPr marL="0" indent="0" algn="ctr">
              <a:buNone/>
            </a:pPr>
            <a:r>
              <a:rPr sz="4400" b="1">
                <a:solidFill>
                  <a:srgbClr val="FFFFFF"/>
                </a:solidFill>
                <a:latin typeface="Calibri"/>
              </a:rPr>
              <a:t>Thank You</a:t>
            </a:r>
            <a:endParaRPr lang="en-US" sz="4400" dirty="0"/>
          </a:p>
        </p:txBody>
      </p:sp>
      <p:sp>
        <p:nvSpPr>
          <p:cNvPr id="4" name="Text 2"/>
          <p:cNvSpPr/>
          <p:nvPr/>
        </p:nvSpPr>
        <p:spPr>
          <a:xfrm>
            <a:off x="365760" y="2468880"/>
            <a:ext cx="8412480" cy="457200"/>
          </a:xfrm>
          <a:prstGeom prst="rect">
            <a:avLst/>
          </a:prstGeom>
          <a:noFill/>
          <a:ln/>
        </p:spPr>
        <p:txBody>
          <a:bodyPr wrap="square" lIns="0" tIns="0" rIns="0" bIns="0" rtlCol="0" anchor="ctr"/>
          <a:lstStyle/>
          <a:p>
            <a:pPr marL="0" indent="0" algn="ctr">
              <a:buNone/>
            </a:pPr>
            <a:r>
              <a:rPr sz="2200">
                <a:solidFill>
                  <a:srgbClr val="2EE5BA"/>
                </a:solidFill>
                <a:latin typeface="Calibri"/>
              </a:rPr>
              <a:t>Questions &amp; Demonstration</a:t>
            </a:r>
            <a:endParaRPr lang="en-US" sz="2200" dirty="0"/>
          </a:p>
        </p:txBody>
      </p:sp>
      <p:sp>
        <p:nvSpPr>
          <p:cNvPr id="5" name="Shape 3"/>
          <p:cNvSpPr/>
          <p:nvPr/>
        </p:nvSpPr>
        <p:spPr>
          <a:xfrm>
            <a:off x="3657600" y="3063240"/>
            <a:ext cx="1828800" cy="0"/>
          </a:xfrm>
          <a:prstGeom prst="line">
            <a:avLst/>
          </a:prstGeom>
          <a:noFill/>
          <a:ln w="25400">
            <a:solidFill>
              <a:srgbClr val="2EE5BA"/>
            </a:solidFill>
            <a:prstDash val="solid"/>
          </a:ln>
        </p:spPr>
      </p:sp>
      <p:sp>
        <p:nvSpPr>
          <p:cNvPr id="6" name="Text 4"/>
          <p:cNvSpPr/>
          <p:nvPr/>
        </p:nvSpPr>
        <p:spPr>
          <a:xfrm>
            <a:off x="914400" y="3291840"/>
            <a:ext cx="7315200" cy="548640"/>
          </a:xfrm>
          <a:prstGeom prst="rect">
            <a:avLst/>
          </a:prstGeom>
          <a:noFill/>
          <a:ln/>
        </p:spPr>
        <p:txBody>
          <a:bodyPr wrap="square" lIns="0" tIns="0" rIns="0" bIns="0" rtlCol="0" anchor="ctr"/>
          <a:lstStyle/>
          <a:p>
            <a:pPr marL="0" indent="0" algn="ctr">
              <a:buNone/>
            </a:pPr>
            <a:r>
              <a:rPr sz="1400">
                <a:solidFill>
                  <a:srgbClr val="94A3B8"/>
                </a:solidFill>
                <a:latin typeface="Calibri"/>
              </a:rPr>
              <a:t>Ready to demonstrate the customer AI chatbot and protected admin AI chatbot using the latest integrated frontend and backend.</a:t>
            </a:r>
            <a:endParaRPr lang="en-US" sz="1400" dirty="0"/>
          </a:p>
        </p:txBody>
      </p:sp>
      <p:sp>
        <p:nvSpPr>
          <p:cNvPr id="7" name="Text 5"/>
          <p:cNvSpPr/>
          <p:nvPr/>
        </p:nvSpPr>
        <p:spPr>
          <a:xfrm>
            <a:off x="365760" y="4114800"/>
            <a:ext cx="8412480" cy="274320"/>
          </a:xfrm>
          <a:prstGeom prst="rect">
            <a:avLst/>
          </a:prstGeom>
          <a:noFill/>
          <a:ln/>
        </p:spPr>
        <p:txBody>
          <a:bodyPr wrap="square" lIns="0" tIns="0" rIns="0" bIns="0" rtlCol="0" anchor="ctr"/>
          <a:lstStyle/>
          <a:p>
            <a:pPr marL="0" indent="0" algn="ctr">
              <a:buNone/>
            </a:pPr>
            <a:r>
              <a:rPr sz="1200">
                <a:solidFill>
                  <a:srgbClr val="64748B"/>
                </a:solidFill>
                <a:latin typeface="Calibri"/>
              </a:rPr>
              <a:t>Group 1  •  CSE 299  •  North South University</a:t>
            </a:r>
            <a:endParaRPr lang="en-US" sz="1200" dirty="0"/>
          </a:p>
        </p:txBody>
      </p:sp>
      <p:sp>
        <p:nvSpPr>
          <p:cNvPr id="8" name="Text 6"/>
          <p:cNvSpPr/>
          <p:nvPr/>
        </p:nvSpPr>
        <p:spPr>
          <a:xfrm>
            <a:off x="365760" y="4864608"/>
            <a:ext cx="8412480" cy="228600"/>
          </a:xfrm>
          <a:prstGeom prst="rect">
            <a:avLst/>
          </a:prstGeom>
          <a:noFill/>
          <a:ln/>
        </p:spPr>
        <p:txBody>
          <a:bodyPr wrap="square" lIns="0" tIns="0" rIns="0" bIns="0" rtlCol="0" anchor="ctr"/>
          <a:lstStyle/>
          <a:p>
            <a:pPr marL="0" indent="0" algn="l">
              <a:buNone/>
            </a:pPr>
            <a:r>
              <a:rPr sz="900">
                <a:solidFill>
                  <a:srgbClr val="64748B"/>
                </a:solidFill>
                <a:latin typeface="Calibri"/>
              </a:rPr>
              <a:t>Group 1  •  Nuhash Bin Hassan  •  Abu Md. Ashraful Rahat  •  Md. Shakib Rafid Shakib  •  Muhammad Farhan Rafid</a:t>
            </a:r>
            <a:endParaRPr lang="en-US" sz="900" dirty="0"/>
          </a:p>
        </p:txBody>
      </p:sp>
      <p:sp>
        <p:nvSpPr>
          <p:cNvPr id="9" name="Text 7"/>
          <p:cNvSpPr/>
          <p:nvPr/>
        </p:nvSpPr>
        <p:spPr>
          <a:xfrm>
            <a:off x="8595360" y="4864608"/>
            <a:ext cx="365760" cy="228600"/>
          </a:xfrm>
          <a:prstGeom prst="rect">
            <a:avLst/>
          </a:prstGeom>
          <a:noFill/>
          <a:ln/>
        </p:spPr>
        <p:txBody>
          <a:bodyPr wrap="square" lIns="0" tIns="0" rIns="0" bIns="0" rtlCol="0" anchor="ctr"/>
          <a:lstStyle/>
          <a:p>
            <a:pPr marL="0" indent="0" algn="r">
              <a:buNone/>
            </a:pPr>
            <a:r>
              <a:rPr sz="900">
                <a:solidFill>
                  <a:srgbClr val="64748B"/>
                </a:solidFill>
                <a:latin typeface="Calibri"/>
              </a:rPr>
              <a:t>10</a:t>
            </a:r>
            <a:endParaRPr lang="en-US" sz="900" dirty="0"/>
          </a:p>
        </p:txBody>
      </p:sp>
    </p:spTree>
    <p:extLst>
      <p:ext uri="{BB962C8B-B14F-4D97-AF65-F5344CB8AC3E}">
        <p14:creationId xmlns:p14="http://schemas.microsoft.com/office/powerpoint/2010/main" val="1568085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1229</Words>
  <Application>Microsoft Office PowerPoint</Application>
  <PresentationFormat>On-screen Show (16:9)</PresentationFormat>
  <Paragraphs>135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CSE299 Group 1 Project Update 7 Presentation</dc:title>
  <dc:subject>AI-Powered E-Commerce Platform with Customer and Admin Chatbots</dc:subject>
  <dc:creator>Group 1</dc:creator>
  <cp:lastModifiedBy>UseR</cp:lastModifiedBy>
  <cp:revision>2</cp:revision>
  <dcterms:created xsi:type="dcterms:W3CDTF">2026-06-28T17:07:40Z</dcterms:created>
  <dcterms:modified xsi:type="dcterms:W3CDTF">2026-07-26T17:28:16Z</dcterms:modified>
</cp:coreProperties>
</file>